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11.xml.rels" ContentType="application/vnd.openxmlformats-package.relationships+xml"/>
  <Override PartName="/ppt/slides/_rels/slide9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notesMasterIdLst>
    <p:notesMasterId r:id="rId13"/>
  </p:notesMasterIdLst>
  <p:sldIdLst>
    <p:sldId id="256" r:id="rId14"/>
    <p:sldId id="257" r:id="rId15"/>
    <p:sldId id="258" r:id="rId16"/>
    <p:sldId id="259" r:id="rId17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34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5"/>
          <p:cNvSpPr>
            <a:spLocks noGrp="1"/>
          </p:cNvSpPr>
          <p:nvPr>
            <p:ph type="ftr" idx="35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6"/>
          <p:cNvSpPr>
            <a:spLocks noGrp="1"/>
          </p:cNvSpPr>
          <p:nvPr>
            <p:ph type="sldNum" idx="36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FF35E4F-DD15-4FE3-A00F-1B24F53A6BD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[0:00]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เปิดด้วยคำถาม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เคย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แก้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bug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ที่โค้ด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รันครั้งที่สอง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ผลไม่เหมือนครั้งแรก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ไหม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?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—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นั่นคือ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ที่หลุดมา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ปน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ทั้งงานไม่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พูด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monad/functor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เลย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ใครถามเรื่อง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Haskell/monad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เลื่อนไป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ตอบท้ายชั่วโมง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9DF1AE7-E981-4AE6-A9B8-36D16139D456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[0:02]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ย้ำสัญญา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ออกจากห้องไปด้วยทักษะ ไม่ใช่ความรู้ลอย ๆ — เล่า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flow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วันนี้สั้น ๆ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ดูโค้ด เขียนโค้ด แล้วมีการบ้านไปต่อที่บ้าน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เวลาเริ่มเบี้ยว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middleware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เป็นตัวตัดก่อน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E8A12C-336B-4E45-9D00-72ACE4C672F0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[0:05]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ให้ผู้เรียนยกตัวอย่าง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action/calculation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จากงานตัวเองคนละ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อย่าง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(30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วินาที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) —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ประเด็น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มักแฝง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ในหัว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เช่น กติกาส่วนลดที่อยู่ใน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if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ของ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handler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ใหญ่ ๆ จนไม่มีใครเห็นว่ามันคือ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แยกอยู่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C4D16A39-CD3E-449C-80AC-AB2B6E7A607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[0:08]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อย่าเฉลยเร็ว — จับคู่ชี้บรรทัด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นาที แล้วเฉลยบนกระดาน จุดที่ติง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order.Total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ถูก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mutate (action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บน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data),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กติกา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1000→90%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ที่ฝังอยู่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, time.Now/print/save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ชัด ๆ คำถามขวาคือสะพานไปหน้าถัดไป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ADC688C3-F855-4839-B108-E64D8116530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[0:13]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อย่าเพิ่งโชว์วิธีแก้ — ให้เห็นปัญหาก่อน ถามว่าใครเคยเจอ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bug '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ผ่านข้อมูลเข้าไปแล้วมันเปลี่ยน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 (mutate input)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แล้วสะพานไปหน้า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refactor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8E8E4F9-BA9D-42D1-864E-C185A0E9B23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[0:15]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พิมพ์สดหรือสลับหน้าจอ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go-fp/02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จุดสำคัญคือ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ย้ายไปขอบ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 — FP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ไม่ได้แปลว่ากำจัด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side effect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แต่จัดที่อยู่ให้มัน ถามต่อ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LogDiscount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ยังเทสต์ยากไหม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? →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ยาก แต่เล็กและไม่มีความรู้ธุรกิจอยู่ข้างในแล้ว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E08CAD89-5B44-46FE-AEA7-D5C7DEB7783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[0:25]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รันเทสต์ให้เห็นเขียว ตาราง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3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แถวนี้คือ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spec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ของกติกาส่วนลด 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QA/PM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อ่านออกด้วย นี่คือเหตุผลที่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calculation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คู่ควรกับการถูกแยกออกมา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39257692-5129-4729-8315-6D18D5B6C9DD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[0:40]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ให้ผู้เรียนเดาลายเซ็น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Curry2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ก่อนเฉลย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โค้ดเต็ม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+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เทสต์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go-fp/04)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ใครถาม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ทำไม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ไม่มี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lambda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สั้น ๆ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 →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ตอบตรง ๆ ว่า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verbose by design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และ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(value, error)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ทำ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chain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ยาก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3DC8CCE-8223-4CD4-9AA3-8A768527E629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[0:50]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ถ้ามีเวลา รันสดเทียบ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เก่า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ใหม่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(gotip)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เชื่อมกลับกรอบ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ACD: goroutine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action,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ตัวแปรที่ถูกจับร่วมคือ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ที่แชร์โดยไม่ตั้งใจ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27B5F73E-83CA-4859-B5CE-B4518CE68CD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[0:52]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แนะให้เปิด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fp_test.go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เป็นตัวอย่าง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TDD —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เขียนเทสต์ก่อนแล้วเห็นลายเซ็น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generic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ทีละขั้น ใครถาม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performance: for loop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ตรง ๆ ชนะเสมอ ไม่มี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magic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1E865718-2DC4-4FC6-A2A0-5EDAE4CB6E4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[1:05] aha moment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ของวัน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คนที่ใช้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zap.New(...WithFields)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มาตลอดจะเห็นว่ามันคือ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pattern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เดียวกับ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Adder/Curry2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เพิ่งเรียน — เดินหน้านี้สั้น ๆ แล้วไป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middleware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D4914D55-9FA3-48B7-8A18-D5C237D3031E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[1:10]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ถ้าเวลาเหลือน้อย ตัดหน้านี้ทั้งหน้าได้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พูดประโยคเดียว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'middleware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คือการเอาฟังก์ชันมาคู่กัน ลำดับมีความหมาย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')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แล้วกระโดดไปของหวาน — ไม่กระทบเรื่องเล่า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F10329F1-273B-4EC0-991C-905F071F6B63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[1:25]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โชว์อย่างเดียว ไม่ลงลึก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yield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false =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ผู้อ่านสั่งหยุด ทำให้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infinite sequence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ปลอดภัย แถมขำ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int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ยัง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overflow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ถ้าดันอ่านไกล — ของจริงไม่มีอะไร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infinite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หน้านี้ตัดได้ถ้าเวลาโดนตัด แต่เป็นของที่คนจำได้นาน พยายามรักษาไว้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95A70CD6-A847-498C-920F-90619CDDFBA7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[1:40]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ปิดเนื้อหาด้วยกรอบเดียว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3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คำถามนี้คือสิ่งที่อยากให้จำกลับบ้าน — การบ้านคือโอกาสฝึกใช้มันหน้าเดียว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4606DE35-D8DA-4ADF-BBBF-BC4CC69D7571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[1:48]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มอบการบ้าน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: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ใช้เวลา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~20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นาที ใบ้จุดพลาดบ่อยไว้ด้วย —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(1)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ลืมรักษาลำดับคูปองเดิม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(2) return slice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ใหม่แต่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mutate element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ข้างใน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ยังไม่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pure) (3)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แอบเอาการหา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coupon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กลับเข้าไปใน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ครั้งหน้าเปิดเฉลยพร้อมกัน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57305EE8-32D5-4999-8F78-EEC0EE15CFD8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0">
              <a:lnSpc>
                <a:spcPct val="100000"/>
              </a:lnSpc>
              <a:buNone/>
            </a:pP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เผื่อ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Q&amp;A: (1)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ทำไม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ไม่มี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pipe operator → verbose by design + (value, error)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ทำ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chain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ยาก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(2) copy-on-write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แพงไหม →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benchmark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go-fp/08: struct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เล็กต่างกัน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~0.05 ns/op (3) goroutine/channel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เข้ากรอบไหน →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channel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data,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การส่ง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/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รับคือ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action (4)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ใครถาม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monad → </a:t>
            </a:r>
            <a:r>
              <a:rPr b="0" lang="hi-IN" sz="2000" spc="-1" strike="noStrike">
                <a:solidFill>
                  <a:srgbClr val="000000"/>
                </a:solidFill>
                <a:latin typeface="Arial"/>
              </a:rPr>
              <a:t>วันนี้ไม่จำเป็น แนะนำหนังสือต่อ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71440" cy="456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defRPr b="0" lang="en-US" sz="12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</a:pPr>
            <a:fld id="{6D7C10CF-CC56-4D1A-8322-AC209D9876E4}" type="slidenum">
              <a:rPr b="0" lang="en-US" sz="12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2C61292F-00E4-453F-B277-DEF65A1544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04201919-0C9C-4D95-B171-4632E272A17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54134AF-3003-4B22-BC4D-118025411A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23F35654-6CC7-418C-A7F2-EEB016FFDBC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FBD5E513-0EC1-4FC7-BDB0-DFBC07454F3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3C8B0A98-7DD3-499D-98FE-902066EE651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232B6027-3B2C-48EF-9987-63047CBABB5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C7CD888C-DE01-410B-9755-E822BE1BCD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C05DF652-6C71-41B7-935F-F4E9080B1F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888549C3-AFDC-4FD8-AAF1-596C82BE08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247674E1-3FE6-4819-ACC2-BA5190EF90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Master title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4C869DB-F209-4D5B-B737-0CD3AE3D4A8F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17837D34-7761-4D88-A7C0-5B6B0723019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ic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k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to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di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M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a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er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tit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le 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st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yl</a:t>
            </a: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F2CBA40-1EC8-4E9F-AC32-0253DDC2B2C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3696235-4C01-4D66-820C-0EDA45B248F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4000" spc="-1" strike="noStrike" cap="all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Click to edit Master text styles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610452B-144E-452A-940B-253A1C57B59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45EA8D42-7293-4E73-AE0E-43A27E305202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16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7491DE6-A60A-420D-BC0C-6CC2C7EC7B24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2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457200">
              <a:lnSpc>
                <a:spcPct val="100000"/>
              </a:lnSpc>
              <a:buNone/>
            </a:pPr>
            <a:r>
              <a:rPr b="0" lang="en-US" sz="44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7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8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BF60C70-7616-4049-A376-AC1C900CD36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2EC9E4-E6E5-47A5-A5AF-F84ADF5DC300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743040" indent="-285840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pc="-1" strike="noStrike">
                <a:solidFill>
                  <a:schemeClr val="dk1"/>
                </a:solidFill>
                <a:latin typeface="Calibri"/>
              </a:rPr>
              <a:t>Second level</a:t>
            </a:r>
            <a:endParaRPr b="0" lang="en-US" sz="2800" spc="-1" strike="noStrike">
              <a:solidFill>
                <a:schemeClr val="dk1"/>
              </a:solidFill>
              <a:latin typeface="Calibri"/>
            </a:endParaRPr>
          </a:p>
          <a:p>
            <a:pPr lvl="2" marL="1143000" indent="-228600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Third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3" marL="16002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057400" indent="-228600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AE60071-DAF2-4FCB-A63C-D2E1EF6F5178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457200">
              <a:lnSpc>
                <a:spcPct val="100000"/>
              </a:lnSpc>
              <a:buNone/>
            </a:pPr>
            <a:r>
              <a:rPr b="1" lang="en-US" sz="2000" spc="-1" strike="noStrike">
                <a:solidFill>
                  <a:schemeClr val="dk1"/>
                </a:solidFill>
                <a:latin typeface="Calibri"/>
              </a:rPr>
              <a:t>Click to edit Master title style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4572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chemeClr val="dk1"/>
                </a:solidFill>
                <a:latin typeface="Calibri"/>
              </a:rPr>
              <a:t>Click to edit Master text styles</a:t>
            </a:r>
            <a:endParaRPr b="0" lang="en-US" sz="1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</a:pPr>
            <a:r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02CEE2-27A0-46CF-B339-1693D03F40A6}" type="slidenum">
              <a:rPr b="0" lang="en-US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Rectangle 1"/>
          <p:cNvSpPr/>
          <p:nvPr/>
        </p:nvSpPr>
        <p:spPr>
          <a:xfrm>
            <a:off x="0" y="0"/>
            <a:ext cx="12191400" cy="31968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4" name="TextBox 2"/>
          <p:cNvSpPr/>
          <p:nvPr/>
        </p:nvSpPr>
        <p:spPr>
          <a:xfrm>
            <a:off x="822960" y="2103120"/>
            <a:ext cx="10515240" cy="221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1" lang="en-US" sz="4400" spc="-1" strike="noStrike">
                <a:solidFill>
                  <a:srgbClr val="0f172a"/>
                </a:solidFill>
                <a:latin typeface="Noto Sans Thai Looped"/>
              </a:rPr>
              <a:t>Explore Functional Programming in Go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2200" spc="-1" strike="noStrike">
                <a:solidFill>
                  <a:srgbClr val="0d9488"/>
                </a:solidFill>
                <a:latin typeface="Noto Sans Thai Looped"/>
              </a:rPr>
              <a:t>มองโค้ดให้เห็น </a:t>
            </a:r>
            <a:r>
              <a:rPr b="0" lang="en-US" sz="2200" spc="-1" strike="noStrike">
                <a:solidFill>
                  <a:srgbClr val="0d9488"/>
                </a:solidFill>
                <a:latin typeface="Ubuntu"/>
              </a:rPr>
              <a:t>3</a:t>
            </a:r>
            <a:r>
              <a:rPr b="0" lang="en-US" sz="2200" spc="-1" strike="noStrike">
                <a:solidFill>
                  <a:srgbClr val="0d9488"/>
                </a:solidFill>
                <a:latin typeface="Noto Sans Thai Looped"/>
              </a:rPr>
              <a:t> </a:t>
            </a:r>
            <a:r>
              <a:rPr b="0" lang="hi-IN" sz="2200" spc="-1" strike="noStrike">
                <a:solidFill>
                  <a:srgbClr val="0d9488"/>
                </a:solidFill>
                <a:latin typeface="Noto Sans Thai Looped"/>
              </a:rPr>
              <a:t>อย่าง</a:t>
            </a:r>
            <a:r>
              <a:rPr b="0" lang="en-US" sz="2200" spc="-1" strike="noStrike">
                <a:solidFill>
                  <a:srgbClr val="0d9488"/>
                </a:solidFill>
                <a:latin typeface="Noto Sans Thai Looped"/>
              </a:rPr>
              <a:t>: Actions · Calculations · Data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600" spc="-1" strike="noStrike">
                <a:solidFill>
                  <a:srgbClr val="64748b"/>
                </a:solidFill>
                <a:latin typeface="Noto Sans Thai Looped"/>
              </a:rPr>
              <a:t>ทักษะที่ใช้กับโค้ด </a:t>
            </a:r>
            <a:r>
              <a:rPr b="0" lang="en-US" sz="1600" spc="-1" strike="noStrike">
                <a:solidFill>
                  <a:srgbClr val="64748b"/>
                </a:solidFill>
                <a:latin typeface="Noto Sans Thai Looped"/>
              </a:rPr>
              <a:t>Go </a:t>
            </a:r>
            <a:r>
              <a:rPr b="0" lang="hi-IN" sz="1600" spc="-1" strike="noStrike">
                <a:solidFill>
                  <a:srgbClr val="64748b"/>
                </a:solidFill>
                <a:latin typeface="Noto Sans Thai Looped"/>
              </a:rPr>
              <a:t>ที่ทำงานจริงได้ทันที — ไม่ต้องมีพื้น </a:t>
            </a:r>
            <a:r>
              <a:rPr b="0" lang="en-US" sz="1600" spc="-1" strike="noStrike">
                <a:solidFill>
                  <a:srgbClr val="64748b"/>
                </a:solidFill>
                <a:latin typeface="Noto Sans Thai Looped"/>
              </a:rPr>
              <a:t>FP </a:t>
            </a:r>
            <a:r>
              <a:rPr b="0" lang="hi-IN" sz="1600" spc="-1" strike="noStrike">
                <a:solidFill>
                  <a:srgbClr val="64748b"/>
                </a:solidFill>
                <a:latin typeface="Noto Sans Thai Looped"/>
              </a:rPr>
              <a:t>มาก่อน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จบ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2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ชั่วโมงนี้ คุณจะได้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เรียงจาก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มองเป็น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 → 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เขียนเป็น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 → 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ใช้เป็น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548640" y="1600200"/>
            <a:ext cx="11063880" cy="224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ทักษะมองโค้ด — เห็นว่าบรรทัดไหนเป็น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Action / Calculation / Data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แล้วรู้ว่ามันแปลว่าอะไร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วิธีดึง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calculation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ออกจาก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ให้โค้ดทดสอบง่ายขึ้น — ใช้กับ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legacy Go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ได้ทันที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เครื่องมือของ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Go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สำหรับเขียนแบบ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functional: closures, generics, iter.Seq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สายตาใหม่กับ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pattern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ที่คุณใช้อยู่แล้ว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(Functional Options, middleware) — </a:t>
            </a:r>
            <a:r>
              <a:rPr b="0" lang="hi-IN" sz="1900" spc="-1" strike="noStrike">
                <a:solidFill>
                  <a:srgbClr val="0f172a"/>
                </a:solidFill>
                <a:latin typeface="Noto Sans Thai Looped"/>
              </a:rPr>
              <a:t>ที่จริงมันคือ </a:t>
            </a:r>
            <a:r>
              <a:rPr b="0" lang="en-US" sz="1900" spc="-1" strike="noStrike">
                <a:solidFill>
                  <a:srgbClr val="0f172a"/>
                </a:solidFill>
                <a:latin typeface="Noto Sans Thai Looped"/>
              </a:rPr>
              <a:t>FP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400"/>
              </a:spcAft>
            </a:pPr>
            <a:r>
              <a:rPr b="1" lang="en-US" sz="1900" spc="-1" strike="noStrike">
                <a:solidFill>
                  <a:srgbClr val="0d9488"/>
                </a:solidFill>
                <a:latin typeface="Noto Sans Thai Looped"/>
              </a:rPr>
              <a:t>• </a:t>
            </a:r>
            <a:r>
              <a:rPr b="1" lang="hi-IN" sz="1900" spc="-1" strike="noStrike">
                <a:solidFill>
                  <a:srgbClr val="0d9488"/>
                </a:solidFill>
                <a:latin typeface="Noto Sans Thai Looped"/>
              </a:rPr>
              <a:t>และมีการบ้าน </a:t>
            </a:r>
            <a:r>
              <a:rPr b="1" lang="en-US" sz="1900" spc="-1" strike="noStrike">
                <a:solidFill>
                  <a:srgbClr val="0d9488"/>
                </a:solidFill>
                <a:latin typeface="Ubuntu"/>
              </a:rPr>
              <a:t>1</a:t>
            </a:r>
            <a:r>
              <a:rPr b="1" lang="en-US" sz="1900" spc="-1" strike="noStrike">
                <a:solidFill>
                  <a:srgbClr val="0d9488"/>
                </a:solidFill>
                <a:latin typeface="Noto Sans Thai Looped"/>
              </a:rPr>
              <a:t> </a:t>
            </a:r>
            <a:r>
              <a:rPr b="1" lang="hi-IN" sz="1900" spc="-1" strike="noStrike">
                <a:solidFill>
                  <a:srgbClr val="0d9488"/>
                </a:solidFill>
                <a:latin typeface="Noto Sans Thai Looped"/>
              </a:rPr>
              <a:t>ชิ้น ให้ได้ลอง </a:t>
            </a:r>
            <a:r>
              <a:rPr b="1" lang="en-US" sz="1900" spc="-1" strike="noStrike">
                <a:solidFill>
                  <a:srgbClr val="0d9488"/>
                </a:solidFill>
                <a:latin typeface="Noto Sans Thai Looped"/>
              </a:rPr>
              <a:t>refactor </a:t>
            </a:r>
            <a:r>
              <a:rPr b="1" lang="hi-IN" sz="1900" spc="-1" strike="noStrike">
                <a:solidFill>
                  <a:srgbClr val="0d9488"/>
                </a:solidFill>
                <a:latin typeface="Noto Sans Thai Looped"/>
              </a:rPr>
              <a:t>ด้วยมือตัวเองต่อที่บ้าน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"/>
          <p:cNvSpPr/>
          <p:nvPr/>
        </p:nvSpPr>
        <p:spPr>
          <a:xfrm>
            <a:off x="502920" y="292680"/>
            <a:ext cx="11155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แกนคิดของวันนี้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ทุกบรรทัดโค้ดคือ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1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ใน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3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อย่างนี้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80" name="Table 3"/>
          <p:cNvGraphicFramePr/>
          <p:nvPr/>
        </p:nvGraphicFramePr>
        <p:xfrm>
          <a:off x="548640" y="1463040"/>
          <a:ext cx="11109600" cy="2468520"/>
        </p:xfrm>
        <a:graphic>
          <a:graphicData uri="http://schemas.openxmlformats.org/drawingml/2006/table">
            <a:tbl>
              <a:tblPr/>
              <a:tblGrid>
                <a:gridCol w="1744200"/>
                <a:gridCol w="3305160"/>
                <a:gridCol w="4223520"/>
                <a:gridCol w="1836000"/>
              </a:tblGrid>
              <a:tr h="617040">
                <a:tc>
                  <a:txBody>
                    <a:bodyPr tIns="36360" bIns="36360" anchor="t">
                      <a:noAutofit/>
                    </a:bodyPr>
                    <a:p>
                      <a:endParaRPr b="0" lang="en-US" sz="1800" spc="-1" strike="noStrike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คืออะไร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ตัวอย่าง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ชื่อ 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FP </a:t>
                      </a: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อื่นเรียก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Data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ข้อเท็จจริงของเหตุการณ์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email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ที่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user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กรอก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,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ยอดเงินจาก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API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—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Calculation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  <a:ea typeface="Noto Sans CJK SC"/>
                        </a:rPr>
                        <a:t>input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  <a:cs typeface="Noto Sans Devanagari"/>
                        </a:rPr>
                        <a:t>เดิ</a:t>
                      </a:r>
                      <a:r>
                        <a:rPr b="0" lang="hi-IN" sz="1400" spc="-1" strike="noStrike">
                          <a:solidFill>
                            <a:srgbClr val="000000"/>
                          </a:solidFill>
                          <a:latin typeface="Noto Sans Thai Looped"/>
                          <a:cs typeface="Noto Sans Devanagari"/>
                        </a:rPr>
                        <a:t>ม </a:t>
                      </a:r>
                      <a:r>
                        <a:rPr b="0" lang="en-US" sz="1600" spc="-1" strike="noStrike">
                          <a:solidFill>
                            <a:srgbClr val="0f172a"/>
                          </a:solidFill>
                          <a:latin typeface="Noto Sans Thai Looped"/>
                          <a:ea typeface="Noto Sans CJK SC"/>
                        </a:rPr>
                        <a:t>→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Noto Sans Thai Looped"/>
                        </a:rPr>
                        <a:t>  </a:t>
                      </a:r>
                      <a:r>
                        <a:rPr b="0" lang="en-US" sz="1400" spc="-1" strike="noStrike">
                          <a:solidFill>
                            <a:srgbClr val="000000"/>
                          </a:solidFill>
                          <a:latin typeface="Noto Sans Thai Looped"/>
                        </a:rPr>
                        <a:t>outp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ut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เดิม เสมอ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หาส่วนลด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, validate email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pure function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Action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ผลขึ้นกับ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'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รันกี่ครั้ง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/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เมื่อไหร่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'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ส่ง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email,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เขียน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DB,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อ่านเวลา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side effect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sp>
        <p:nvSpPr>
          <p:cNvPr id="81" name="TextBox 4"/>
          <p:cNvSpPr/>
          <p:nvPr/>
        </p:nvSpPr>
        <p:spPr>
          <a:xfrm>
            <a:off x="548640" y="4297680"/>
            <a:ext cx="11063880" cy="110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1199"/>
              </a:spcAft>
            </a:pPr>
            <a:r>
              <a:rPr b="1" lang="en-US" sz="1800" spc="-1" strike="noStrike">
                <a:solidFill>
                  <a:srgbClr val="0d9488"/>
                </a:solidFill>
                <a:latin typeface="Noto Sans Thai Looped"/>
              </a:rPr>
              <a:t>• </a:t>
            </a:r>
            <a:r>
              <a:rPr b="1" lang="hi-IN" sz="1800" spc="-1" strike="noStrike">
                <a:solidFill>
                  <a:srgbClr val="0d9488"/>
                </a:solidFill>
                <a:latin typeface="Noto Sans Thai Looped"/>
              </a:rPr>
              <a:t>คำถามเดียวที่ต้องตอบเก่ง</a:t>
            </a:r>
            <a:r>
              <a:rPr b="1" lang="en-US" sz="1800" spc="-1" strike="noStrike">
                <a:solidFill>
                  <a:srgbClr val="0d9488"/>
                </a:solidFill>
                <a:latin typeface="Noto Sans Thai Looped"/>
              </a:rPr>
              <a:t>: "</a:t>
            </a:r>
            <a:r>
              <a:rPr b="1" lang="hi-IN" sz="1800" spc="-1" strike="noStrike">
                <a:solidFill>
                  <a:srgbClr val="0d9488"/>
                </a:solidFill>
                <a:latin typeface="Noto Sans Thai Looped"/>
              </a:rPr>
              <a:t>บรรทัดนี้พึ่งโลกภายนอกไหม</a:t>
            </a:r>
            <a:r>
              <a:rPr b="1" lang="en-US" sz="1800" spc="-1" strike="noStrike">
                <a:solidFill>
                  <a:srgbClr val="0d9488"/>
                </a:solidFill>
                <a:latin typeface="Noto Sans Thai Looped"/>
              </a:rPr>
              <a:t>?"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อ่านนาฬิกา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พิมพ์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log,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เขียนไฟล์ → พึ่ง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(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ผลเปลี่ยนตามเวลา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/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จำนวนครั้ง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บวกเลข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ตรวจ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format,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หาคูปองที่ใช้ได้ → ไม่พึ่ง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(input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ชุดเดิม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=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คำตอบชุดเดิม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ลองอ่านโค้ดนี้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บรรทัดไหนคือ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Data · Calculation · Action? —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บรรทัดเดียวซ้อนหลายอย่างได้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4" name="Rounded Rectangle 3"/>
          <p:cNvSpPr/>
          <p:nvPr/>
        </p:nvSpPr>
        <p:spPr>
          <a:xfrm>
            <a:off x="548640" y="1600200"/>
            <a:ext cx="7131960" cy="420588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ProcessOrder(order *Order)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order.ProcessedAt = time.Now()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fmt.Printf("processing %s ...", order.Email)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order.Total = 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_, it := range order.Items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order.Total += it.Price * it.Quantity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if order.Total &gt;= 1000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order.Total = order.Total * 90 / 100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orders[order.Email] = *order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fmt.Printf("saved: total=%d", order.Total)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8001000" y="1737360"/>
            <a:ext cx="3657240" cy="163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1" lang="hi-IN" sz="1800" spc="-1" strike="noStrike">
                <a:solidFill>
                  <a:srgbClr val="0d9488"/>
                </a:solidFill>
                <a:latin typeface="Noto Sans Thai Looped"/>
              </a:rPr>
              <a:t>ชวนคิด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ทำไมฟังก์ชันนี้รัน </a:t>
            </a: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2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ครั้ง ผลอาจไม่เหมือนกัน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ถ้ากติกาส่วนลดเปลี่ยน ต้องรันระบบทั้งระบบเพื่อทดสอบไหม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1001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ข้อมูล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(Data)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ที่ไหลผ่านฟังก์ชันนี้มีอะไรบ้าง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โค้ดที่ปนกันทำให้ชีวิตยาก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ตัวอย่างเดิม — มองผ่านกรอบ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ACD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แล้วปัญหาชัดขึ้นเอง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88" name="TextBox 3"/>
          <p:cNvSpPr/>
          <p:nvPr/>
        </p:nvSpPr>
        <p:spPr>
          <a:xfrm>
            <a:off x="548640" y="1600200"/>
            <a:ext cx="11063880" cy="22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แฝงใน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calculation →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ทดสอบยาก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–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อยากทดสอบแค่กติกาส่วนลด ต้องรัน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ProcessOrder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ทั้งฟังก์ชัน — จับ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stdout,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ล้าง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map,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ปลอมเวลา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Mutate input →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ผู้เรียกไม่รู้ว่า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order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ของตัวเองถูกแก้ไปแล้ว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–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bug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ยอดฮิต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ผ่าน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order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เข้าไป </a:t>
            </a:r>
            <a:r>
              <a:rPr b="0" lang="en-US" sz="1600" spc="-1" strike="noStrike">
                <a:solidFill>
                  <a:srgbClr val="0f172a"/>
                </a:solidFill>
                <a:latin typeface="Ubuntu"/>
              </a:rPr>
              <a:t>2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ครั้ง ยอดหายเพราะถูกลดสองรอบ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กติกาธุรกิจ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(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ลด </a:t>
            </a:r>
            <a:r>
              <a:rPr b="1" lang="en-US" sz="2000" spc="-1" strike="noStrike">
                <a:solidFill>
                  <a:srgbClr val="0f172a"/>
                </a:solidFill>
                <a:latin typeface="Ubuntu"/>
              </a:rPr>
              <a:t>10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%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เมื่อยอดถึง </a:t>
            </a:r>
            <a:r>
              <a:rPr b="1" lang="en-US" sz="2000" spc="-1" strike="noStrike">
                <a:solidFill>
                  <a:srgbClr val="0f172a"/>
                </a:solidFill>
                <a:latin typeface="Ubuntu"/>
              </a:rPr>
              <a:t>1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,</a:t>
            </a:r>
            <a:r>
              <a:rPr b="1" lang="en-US" sz="2000" spc="-1" strike="noStrike">
                <a:solidFill>
                  <a:srgbClr val="0f172a"/>
                </a:solidFill>
                <a:latin typeface="Ubuntu"/>
              </a:rPr>
              <a:t>000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)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ฝังอยู่ใน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action → 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มองไม่เห็นเป็น 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'</a:t>
            </a:r>
            <a:r>
              <a:rPr b="1" lang="hi-IN" sz="2000" spc="-1" strike="noStrike">
                <a:solidFill>
                  <a:srgbClr val="0f172a"/>
                </a:solidFill>
                <a:latin typeface="Noto Sans Thai Looped"/>
              </a:rPr>
              <a:t>ความรู้</a:t>
            </a:r>
            <a:r>
              <a:rPr b="1" lang="en-US" sz="2000" spc="-1" strike="noStrike">
                <a:solidFill>
                  <a:srgbClr val="0f172a"/>
                </a:solidFill>
                <a:latin typeface="Noto Sans Thai Looped"/>
              </a:rPr>
              <a:t>'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marL="457200" defTabSz="457200">
              <a:lnSpc>
                <a:spcPct val="100000"/>
              </a:lnSpc>
              <a:spcAft>
                <a:spcPts val="11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–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กติกาพวกนี้คือ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calculation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ที่ควรรวมอยู่ด้วยกัน เทสต์ได้เอง และใช้ซ้ำได้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Rounded Rectangle 4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โค้ดที่ปนกันยังทำงานได้ — แต่คุณจ่ายค่ามันตอนเทสต์ ตอนแก้ และตอนเจอ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bug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จาก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สู่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Calculation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หัวใจของวันนี้ — แยก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การคำนวณ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ออกจาก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การทำลงโลกภายนอก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92" name="Rounded Rectangle 3"/>
          <p:cNvSpPr/>
          <p:nvPr/>
        </p:nvSpPr>
        <p:spPr>
          <a:xfrm>
            <a:off x="548640" y="1691640"/>
            <a:ext cx="5394600" cy="22856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ฟังก์ชันนี้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คำนวณ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หรือ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ทำอะไรลงโลกภายนอก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ApplyDiscount(cart Cart) Cart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fmt.Println("applying discount")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cart.Total = cart.Total * 90 / 100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cart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3" name="Rounded Rectangle 4"/>
          <p:cNvSpPr/>
          <p:nvPr/>
        </p:nvSpPr>
        <p:spPr>
          <a:xfrm>
            <a:off x="548640" y="1380600"/>
            <a:ext cx="868320" cy="27396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200" spc="-1" strike="noStrike">
                <a:solidFill>
                  <a:srgbClr val="ffffff"/>
                </a:solidFill>
                <a:latin typeface="Noto Sans Thai Looped"/>
              </a:rPr>
              <a:t>ปนกัน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4" name="Rounded Rectangle 5"/>
          <p:cNvSpPr/>
          <p:nvPr/>
        </p:nvSpPr>
        <p:spPr>
          <a:xfrm>
            <a:off x="6263640" y="1691640"/>
            <a:ext cx="5394600" cy="22856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คำนวณอย่างเดียว —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input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เดิม ได้ผลเดิมเสมอ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Discounted(total int) int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total * 90 / 100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การ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ทำลงโลกภายนอก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"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แยกเป็นอีกฟังก์ชัน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LogDiscount(total int)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fmt.Println("discount", Discounted(total))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Rounded Rectangle 6"/>
          <p:cNvSpPr/>
          <p:nvPr/>
        </p:nvSpPr>
        <p:spPr>
          <a:xfrm>
            <a:off x="6263640" y="1380600"/>
            <a:ext cx="1069560" cy="273960"/>
          </a:xfrm>
          <a:prstGeom prst="roundRect">
            <a:avLst>
              <a:gd name="adj" fmla="val 16667"/>
            </a:avLst>
          </a:prstGeom>
          <a:solidFill>
            <a:srgbClr val="16a34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200" spc="-1" strike="noStrike">
                <a:solidFill>
                  <a:srgbClr val="ffffff"/>
                </a:solidFill>
                <a:latin typeface="Noto Sans Thai Looped"/>
              </a:rPr>
              <a:t>แยกแล้ว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548640" y="4297680"/>
            <a:ext cx="110638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Discounted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เป็น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calculation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แท้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ไม่พิมพ์ ไม่แก้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input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ไม่ถามเวลา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ไม่หายไปไหน — ถูก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'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ย้ายไปไว้ที่ขอบ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'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ของระบบ ตรงที่ต้องเกิดจริงเท่านั้น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Rounded Rectangle 8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แยกแล้วง่ายขึ้น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calculation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เทสต์เองได้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· action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เหลือบาง ๆ จุดเดียว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TextBox 1"/>
          <p:cNvSpPr/>
          <p:nvPr/>
        </p:nvSpPr>
        <p:spPr>
          <a:xfrm>
            <a:off x="502920" y="292680"/>
            <a:ext cx="11155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ผลลัพธ์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ทดสอบได้โดยไม่ต้อง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mock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อะไรเลย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0" name="Rounded Rectangle 3"/>
          <p:cNvSpPr/>
          <p:nvPr/>
        </p:nvSpPr>
        <p:spPr>
          <a:xfrm>
            <a:off x="548640" y="1645920"/>
            <a:ext cx="11109600" cy="32000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TestDiscounted(t *testing.T)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tests := []struct{ in, want int }{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{1000, 900}, {999, 999}, {0, 0},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_, tt := range tests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if got := Discounted(tt.in); got != tt.want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t.Errorf("Discounted(%d) = %d; want %d",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tt.in, got, tt.want)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1" name="TextBox 4"/>
          <p:cNvSpPr/>
          <p:nvPr/>
        </p:nvSpPr>
        <p:spPr>
          <a:xfrm>
            <a:off x="548640" y="5074920"/>
            <a:ext cx="11063880" cy="64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เทียบกับตอนก่อน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เทสต์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ApplyDiscount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ต้องจับ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stdout +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เช็คว่า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input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โดนแก้ — เทสต์กลายเป็นงานโบราณคดี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calculation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ที่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pure =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เทสต์เป็นตาราง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input → output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ได้เลย — กติกาธุรกิจทั้งหมดอยู่ตรงนี้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Rounded Rectangle 5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อยากรู้ว่าโค้ดส่วนไหน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ควรแยก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 —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ดูว่าการเทสต์มันต้อง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mock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อะไร ยิ่งเยอะ ยิ่งแปลว่า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action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ปนอยู่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TextBox 1"/>
          <p:cNvSpPr/>
          <p:nvPr/>
        </p:nvSpPr>
        <p:spPr>
          <a:xfrm>
            <a:off x="502920" y="292680"/>
            <a:ext cx="11155320" cy="125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1: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ฟังก์ชันเป็นค่า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(Higher-order Functions + Closures)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ส่งฟังก์ชันเป็น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argument /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คืนฟังก์ชันได้เต็มรูปแบบ —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std lib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ใช้เยอะแล้ว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: sort.Slice, http.HandleFunc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5" name="Rounded Rectangle 3"/>
          <p:cNvSpPr/>
          <p:nvPr/>
        </p:nvSpPr>
        <p:spPr>
          <a:xfrm>
            <a:off x="548640" y="1874520"/>
            <a:ext cx="11109600" cy="36572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ฟังก์ชันคืนฟังก์ชันได้ —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"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เก็บครึ่งการคำนวณ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"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ไว้ก่อน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Adder(a int) func(int) int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func(b int) int { return a + b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add10 := Adder(10)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add10(5)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== 15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generic: curry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ฟังก์ชัน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2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พารามิเตอร์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Curry2[A, B, R any](f func(A, B) R) func(A) func(B) R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func(a A) func(B) R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func(b B) R { return f(a, b)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Rounded Rectangle 4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closure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จำบริบทตอนถูกสร้าง → นี่คือวิธี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Go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ทำ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partial application (verbose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กว่าภาษา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ML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ชัดเจน — และนี่คือเหตุผลที่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Go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ไม่มี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pipe operator)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กับดักของ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closure: loop variable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closure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จับ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ตัวแปร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ไม่ใช่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ค่า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' —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เว้นแต่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 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1.22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เป็นต้นไป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09" name="Rounded Rectangle 3"/>
          <p:cNvSpPr/>
          <p:nvPr/>
        </p:nvSpPr>
        <p:spPr>
          <a:xfrm>
            <a:off x="548640" y="1600200"/>
            <a:ext cx="11109600" cy="393156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i := 0; i &lt; 3; i++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go func() { fmt.Println(i) }()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Go 1.22+: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พิมพ์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0..2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ไม่ซ้้า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        (loop var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แยกของตัวเองทุกรอบ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Go 1.21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ลงไป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: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ส่วนใหญ่พิมพ์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3 3 3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        (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ทุก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closure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จับ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"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ตัวแปรตัวเดียวกัน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")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โค้ดเก่าจึงมีรอยแก้แบบนี้ทิ้งไว้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i := 0; i &lt; 3; i++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i := i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ทำสำเนาต่อรอบ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go func() { fmt.Println(i) }()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Rounded Rectangle 4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โค้ดเก่าก่อน </a:t>
            </a:r>
            <a:r>
              <a:rPr b="1" lang="en-US" sz="1500" spc="-1" strike="noStrike">
                <a:solidFill>
                  <a:srgbClr val="0f766e"/>
                </a:solidFill>
                <a:latin typeface="Ubuntu"/>
              </a:rPr>
              <a:t>1.22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ยังมีรอยแก้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i := i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ทิ้งไว้ — อ่านเจอแล้วอย่าลบทิ้งโดยไม่รู้ว่ามันกันอะไร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เครื่องมือ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2: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Generics —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เขียน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Map / Filter / Reduce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เองได้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 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1.18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+ ·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โค้ดเต็ม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+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เทสต์แบบ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TDD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ใน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go-fp/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03-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fp-toolkit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3" name="Rounded Rectangle 3"/>
          <p:cNvSpPr/>
          <p:nvPr/>
        </p:nvSpPr>
        <p:spPr>
          <a:xfrm>
            <a:off x="548640" y="1874520"/>
            <a:ext cx="11109600" cy="338292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Map[T, R any](in []T, f func(T) R) []R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out := make([]R, 0, len(in))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_, v := range in { out = append(out, f(v))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out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Filter[T any](in []T, keep func(T) bool) []T { ...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accumulator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ต่าง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type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กับสมาชิกได้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Reduce[T, R any](in []T, init R,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combine func(R, T) R) R { ...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total := Reduce(items, 0, func(acc int, it Item) int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acc + it.Price*it.Quantity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Box 4"/>
          <p:cNvSpPr/>
          <p:nvPr/>
        </p:nvSpPr>
        <p:spPr>
          <a:xfrm>
            <a:off x="548640" y="5440680"/>
            <a:ext cx="1106388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Go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ไม่มี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built-in map/filter —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และ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Go community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ก็นิยม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for loop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ตรง ๆ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โค้ดชุดนี้คือเครื่องมือ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เรียนรู้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concept' —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ในงานจริงใช้เมื่อมันทำให้เจตนาของโค้ดอ่านออกง่ายขึ้น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Rounded Rectangle 5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Reduce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ที่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accumulator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ต่าง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type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กับสมาชิก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(Reduce[Item, int])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คือจุดที่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generics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ช่วยจริง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Functional Options — pattern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ที่คุณใช้อยู่แล้ว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closure + higher-order function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ในโค้ด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production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จริง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: grpc-go, zap, aws-sdk-go-v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2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18" name="Rounded Rectangle 3"/>
          <p:cNvSpPr/>
          <p:nvPr/>
        </p:nvSpPr>
        <p:spPr>
          <a:xfrm>
            <a:off x="548640" y="1874520"/>
            <a:ext cx="11109600" cy="338292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type Option func(*Server)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WithPort(p int) Option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func(s *Server) { s.port = p 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func New(host string, opts ...Option) *Server {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s := &amp;Server{host: host, port: 8080}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default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ก่อน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for _, o := range opts { o(s) }     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400" spc="-1" strike="noStrike">
                <a:solidFill>
                  <a:srgbClr val="94a3b8"/>
                </a:solidFill>
                <a:latin typeface="DejaVu Sans Mono"/>
              </a:rPr>
              <a:t>แล้ว </a:t>
            </a:r>
            <a:r>
              <a:rPr b="0" i="1" lang="en-US" sz="1400" spc="-1" strike="noStrike">
                <a:solidFill>
                  <a:srgbClr val="94a3b8"/>
                </a:solidFill>
                <a:latin typeface="DejaVu Sans Mono"/>
              </a:rPr>
              <a:t>override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return 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400" spc="-1" strike="noStrike">
                <a:solidFill>
                  <a:srgbClr val="e2e8f0"/>
                </a:solidFill>
                <a:latin typeface="DejaVu Sans Mono"/>
              </a:rPr>
              <a:t>srv := New("localhost", WithPort(9090))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9" name="TextBox 4"/>
          <p:cNvSpPr/>
          <p:nvPr/>
        </p:nvSpPr>
        <p:spPr>
          <a:xfrm>
            <a:off x="548640" y="5440680"/>
            <a:ext cx="11063880" cy="61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WithPort(</a:t>
            </a: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9090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)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คือ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'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ฟังก์ชันที่คืน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เล็ก ๆ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'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เอาไว้ยิงใส่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constructor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ตอนหลัง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4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ทำไมไม่ใช้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struct config? — options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ขยายได้โดยไม่ทำ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breaking change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และ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default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ชัดเจน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Rounded Rectangle 5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คุณเขียน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FP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อยู่แล้วโดยไม่รู้ตัว — งานวันนี้แค่ตั้งชื่อให้สิ่งที่ทำอยู่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Middleware = Function Composition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http.Handler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เป็น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function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เดียว →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wrapper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ครอบซ้อนกันคือ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composition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แบบ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3" name="Rounded Rectangle 3"/>
          <p:cNvSpPr/>
          <p:nvPr/>
        </p:nvSpPr>
        <p:spPr>
          <a:xfrm>
            <a:off x="548640" y="1874520"/>
            <a:ext cx="11109600" cy="36572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type Middleware func(http.Handler) http.Handler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Logger(next http.Handler) http.Handler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http.HandlerFunc(func(w http.ResponseWriter, r *http.Request)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start := time.Now()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next.ServeHTTP(w, r)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log.Printf("%s %s (%s)", r.Method, r.URL, time.Since(start))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เอา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middleware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มาครอบซ้อนกัน 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= composition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Chain(mw ...Middleware) Middleware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func(final http.Handler) http.Handler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for i := len(mw) - 1; i &gt;= 0; i--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final = mw[i](final)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final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Rounded Rectangle 4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ลำดับของ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Chain(Logger, Recover)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มีความหมาย —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composition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คือ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ลำดับ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=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ความหมาย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ของหวาน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: Lazy Sequence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ด้วย 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iter.Seq (Go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1.23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+)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อนุกรมไม่รู้จบที่คำนวณเท่าที่ถูกขอ —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range-over-func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ในภาษา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เอง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27" name="Rounded Rectangle 3"/>
          <p:cNvSpPr/>
          <p:nvPr/>
        </p:nvSpPr>
        <p:spPr>
          <a:xfrm>
            <a:off x="548640" y="1691640"/>
            <a:ext cx="11109600" cy="397728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300" spc="-1" strike="noStrike">
                <a:solidFill>
                  <a:srgbClr val="94a3b8"/>
                </a:solidFill>
                <a:latin typeface="DejaVu Sans Mono"/>
              </a:rPr>
              <a:t>อนุกรมไม่รู้จบ — ไม่มีเงื่อนไขหยุดในตัว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func Fibonacci() iter.Seq[int]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return func(yield func(int) bool)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a, b := 0, 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for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if !yield(a) { return } </a:t>
            </a: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300" spc="-1" strike="noStrike">
                <a:solidFill>
                  <a:srgbClr val="94a3b8"/>
                </a:solidFill>
                <a:latin typeface="DejaVu Sans Mono"/>
              </a:rPr>
              <a:t>ผู้อ่านเป็นคนสั่งหยุด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a, b = b, a+b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isEven := func(n int) bool { return n%2 == 0 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even := Filter(Fibonacci(), isEven)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total := 0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for n := range Take(10, even) { </a:t>
            </a: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300" spc="-1" strike="noStrike">
                <a:solidFill>
                  <a:srgbClr val="94a3b8"/>
                </a:solidFill>
                <a:latin typeface="DejaVu Sans Mono"/>
              </a:rPr>
              <a:t>คำนวณเท่าที่ขอเท่านั้น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total += 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300" spc="-1" strike="noStrike">
                <a:solidFill>
                  <a:srgbClr val="e2e8f0"/>
                </a:solidFill>
                <a:latin typeface="DejaVu Sans Mono"/>
              </a:rPr>
              <a:t>} </a:t>
            </a: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// sum </a:t>
            </a:r>
            <a:r>
              <a:rPr b="0" i="1" lang="hi-IN" sz="1300" spc="-1" strike="noStrike">
                <a:solidFill>
                  <a:srgbClr val="94a3b8"/>
                </a:solidFill>
                <a:latin typeface="DejaVu Sans Mono"/>
              </a:rPr>
              <a:t>แรก </a:t>
            </a: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10 </a:t>
            </a:r>
            <a:r>
              <a:rPr b="0" i="1" lang="hi-IN" sz="1300" spc="-1" strike="noStrike">
                <a:solidFill>
                  <a:srgbClr val="94a3b8"/>
                </a:solidFill>
                <a:latin typeface="DejaVu Sans Mono"/>
              </a:rPr>
              <a:t>ตัวเลขคู่ </a:t>
            </a:r>
            <a:r>
              <a:rPr b="0" i="1" lang="en-US" sz="1300" spc="-1" strike="noStrike">
                <a:solidFill>
                  <a:srgbClr val="94a3b8"/>
                </a:solidFill>
                <a:latin typeface="DejaVu Sans Mono"/>
              </a:rPr>
              <a:t>= 257114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8" name="Rounded Rectangle 4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Fibonacci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ไม่มีจุดจบ แต่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Take(</a:t>
            </a:r>
            <a:r>
              <a:rPr b="1" lang="en-US" sz="1500" spc="-1" strike="noStrike">
                <a:solidFill>
                  <a:srgbClr val="0f766e"/>
                </a:solidFill>
                <a:latin typeface="Ubuntu"/>
              </a:rPr>
              <a:t>10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)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คำนวณแค่ </a:t>
            </a:r>
            <a:r>
              <a:rPr b="1" lang="en-US" sz="1500" spc="-1" strike="noStrike">
                <a:solidFill>
                  <a:srgbClr val="0f766e"/>
                </a:solidFill>
                <a:latin typeface="Ubuntu"/>
              </a:rPr>
              <a:t>10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ตัว —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lazy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คือคำนวณ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เท่าที่จำเป็น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ไม่ใช่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ทั้งหมดก่อนแล้วค่อยตัด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'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TextBox 1"/>
          <p:cNvSpPr/>
          <p:nvPr/>
        </p:nvSpPr>
        <p:spPr>
          <a:xfrm>
            <a:off x="502920" y="292680"/>
            <a:ext cx="11155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สรุป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1" lang="en-US" sz="3000" spc="-1" strike="noStrike">
                <a:solidFill>
                  <a:srgbClr val="0f172a"/>
                </a:solidFill>
                <a:latin typeface="Ubuntu"/>
              </a:rPr>
              <a:t>3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คำถามกับโค้ดทุกบรรทัด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graphicFrame>
        <p:nvGraphicFramePr>
          <p:cNvPr id="131" name="Table 3"/>
          <p:cNvGraphicFramePr/>
          <p:nvPr/>
        </p:nvGraphicFramePr>
        <p:xfrm>
          <a:off x="548640" y="1463040"/>
          <a:ext cx="11109600" cy="2468520"/>
        </p:xfrm>
        <a:graphic>
          <a:graphicData uri="http://schemas.openxmlformats.org/drawingml/2006/table">
            <a:tbl>
              <a:tblPr/>
              <a:tblGrid>
                <a:gridCol w="3840480"/>
                <a:gridCol w="2377440"/>
                <a:gridCol w="4891680"/>
              </a:tblGrid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ถาม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ถ้าคำตอบคือ</a:t>
                      </a:r>
                      <a:r>
                        <a:rPr b="1" lang="en-US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...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1" lang="hi-IN" sz="1400" spc="-1" strike="noStrike">
                          <a:solidFill>
                            <a:srgbClr val="ffffff"/>
                          </a:solidFill>
                          <a:latin typeface="Noto Sans Thai Looped"/>
                        </a:rPr>
                        <a:t>แล้วทำอะไร</a:t>
                      </a:r>
                      <a:endParaRPr b="0" lang="en-US" sz="1400" spc="-1" strike="noStrike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d9488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"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ผลขึ้นกับเวลา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/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จำนวนครั้งไหม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?"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Action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ย้ายไปไว้ขอบระบบ ทำให้บางที่สุด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"input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เดิม ให้ผลเดิมเสมอไหม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?"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Calculation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ทำให้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pure +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เขียน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table-driven test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1f5f9"/>
                    </a:solidFill>
                  </a:tcPr>
                </a:tc>
              </a:tr>
              <a:tr h="617040"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"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เป็นแค่ข้อเท็จจริงที่ส่งต่อกันไหม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?"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ใช่ →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Data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 tIns="36360" bIns="36360"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ใช้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immutable </a:t>
                      </a:r>
                      <a:r>
                        <a:rPr b="0" lang="hi-IN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เท่าทำได้ </a:t>
                      </a:r>
                      <a:r>
                        <a:rPr b="0" lang="en-US" sz="1400" spc="-1" strike="noStrike">
                          <a:solidFill>
                            <a:srgbClr val="0f172a"/>
                          </a:solidFill>
                          <a:latin typeface="Noto Sans Thai Looped"/>
                        </a:rPr>
                        <a:t>(value semantics)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91440" marR="9144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sp>
        <p:nvSpPr>
          <p:cNvPr id="132" name="TextBox 4"/>
          <p:cNvSpPr/>
          <p:nvPr/>
        </p:nvSpPr>
        <p:spPr>
          <a:xfrm>
            <a:off x="548640" y="4160520"/>
            <a:ext cx="11063880" cy="67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Go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ทำได้ดี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: HOF · closures · generics (</a:t>
            </a:r>
            <a:r>
              <a:rPr b="0" lang="en-US" sz="1600" spc="-1" strike="noStrike">
                <a:solidFill>
                  <a:srgbClr val="0f172a"/>
                </a:solidFill>
                <a:latin typeface="Ubuntu"/>
              </a:rPr>
              <a:t>1.18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+) · iter.Seq (</a:t>
            </a:r>
            <a:r>
              <a:rPr b="0" lang="en-US" sz="1600" spc="-1" strike="noStrike">
                <a:solidFill>
                  <a:srgbClr val="0f172a"/>
                </a:solidFill>
                <a:latin typeface="Ubuntu"/>
              </a:rPr>
              <a:t>1.23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+)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Go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ไม่มี</a:t>
            </a:r>
            <a:r>
              <a:rPr b="0" lang="en-US" sz="1600" spc="-1" strike="noStrike">
                <a:solidFill>
                  <a:srgbClr val="0f172a"/>
                </a:solidFill>
                <a:latin typeface="Noto Sans Thai Looped"/>
              </a:rPr>
              <a:t>: built-in map/filter · immutability guarantee · tail-call optimization — </a:t>
            </a:r>
            <a:r>
              <a:rPr b="0" lang="hi-IN" sz="1600" spc="-1" strike="noStrike">
                <a:solidFill>
                  <a:srgbClr val="0f172a"/>
                </a:solidFill>
                <a:latin typeface="Noto Sans Thai Looped"/>
              </a:rPr>
              <a:t>รู้ขีดจำกัด แล้วออกแบบรอบมัน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Rounded Rectangle 5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ไม่ต้องเขียน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FP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ทั้งวัน — แค่หมั่นย้าย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calculation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ออกจาก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action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ทีละฟังก์ชัน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extBox 1"/>
          <p:cNvSpPr/>
          <p:nvPr/>
        </p:nvSpPr>
        <p:spPr>
          <a:xfrm>
            <a:off x="502920" y="292680"/>
            <a:ext cx="11155320" cy="80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การบ้าน</a:t>
            </a:r>
            <a:r>
              <a:rPr b="1" lang="en-US" sz="3000" spc="-1" strike="noStrike">
                <a:solidFill>
                  <a:srgbClr val="0f172a"/>
                </a:solidFill>
                <a:latin typeface="Noto Sans Thai Looped"/>
              </a:rPr>
              <a:t>: </a:t>
            </a: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แยกคูปองออกจากการส่งอีเมล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โจทย์จาก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Grokking Simplicity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บท 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3–5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พอร์ตเป็น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Go — repo: go-fp/</a:t>
            </a:r>
            <a:r>
              <a:rPr b="0" lang="en-US" sz="1500" spc="-1" strike="noStrike">
                <a:solidFill>
                  <a:srgbClr val="64748b"/>
                </a:solidFill>
                <a:latin typeface="Ubuntu"/>
              </a:rPr>
              <a:t>07-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coupon-email-exercise (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มี 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EXERCISE.md </a:t>
            </a:r>
            <a:r>
              <a:rPr b="0" lang="hi-IN" sz="1500" spc="-1" strike="noStrike">
                <a:solidFill>
                  <a:srgbClr val="64748b"/>
                </a:solidFill>
                <a:latin typeface="Noto Sans Thai Looped"/>
              </a:rPr>
              <a:t>ประกอบ</a:t>
            </a:r>
            <a:r>
              <a:rPr b="0" lang="en-US" sz="1500" spc="-1" strike="noStrike">
                <a:solidFill>
                  <a:srgbClr val="64748b"/>
                </a:solidFill>
                <a:latin typeface="Noto Sans Thai Looped"/>
              </a:rPr>
              <a:t>)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36" name="Rounded Rectangle 3"/>
          <p:cNvSpPr/>
          <p:nvPr/>
        </p:nvSpPr>
        <p:spPr>
          <a:xfrm>
            <a:off x="548640" y="1874520"/>
            <a:ext cx="6034680" cy="41144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wrap="none" lIns="164520" rIns="109800" tIns="109800" bIns="45000" anchor="t">
            <a:noAutofit/>
          </a:bodyPr>
          <a:p>
            <a:pPr defTabSz="457200">
              <a:lnSpc>
                <a:spcPct val="100000"/>
              </a:lnSpc>
            </a:pP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// </a:t>
            </a:r>
            <a:r>
              <a:rPr b="0" i="1" lang="hi-IN" sz="1200" spc="-1" strike="noStrike">
                <a:solidFill>
                  <a:srgbClr val="94a3b8"/>
                </a:solidFill>
                <a:latin typeface="DejaVu Sans Mono"/>
              </a:rPr>
              <a:t>ทุกอย่างอยู่ในฟังก์ชันเดียว — มองแล้วเจออะไรบ้าง</a:t>
            </a:r>
            <a:r>
              <a:rPr b="0" i="1" lang="en-US" sz="1200" spc="-1" strike="noStrike">
                <a:solidFill>
                  <a:srgbClr val="94a3b8"/>
                </a:solidFill>
                <a:latin typeface="DejaVu Sans Mono"/>
              </a:rPr>
              <a:t>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func EmailCoupons(cart Cart, coupons []Coupon,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out io.Writer) error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fmt.Printf("finding coupons for %s\n", cart.Email)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var codes []string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for _, c := range coupons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if cart.Total &gt;= c.MinimumTotal &amp;&amp;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(c.Category == "" || c.Category == cart.Category)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codes = append(codes, c.Code)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_, err := fmt.Fprintf(out,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"To: %s\nCoupons: %v\n", cart.Email, codes)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    </a:t>
            </a: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return err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b="0" lang="en-US" sz="1200" spc="-1" strike="noStrike">
                <a:solidFill>
                  <a:srgbClr val="e2e8f0"/>
                </a:solidFill>
                <a:latin typeface="DejaVu Sans Mono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Rounded Rectangle 4"/>
          <p:cNvSpPr/>
          <p:nvPr/>
        </p:nvSpPr>
        <p:spPr>
          <a:xfrm>
            <a:off x="548640" y="1563480"/>
            <a:ext cx="3483360" cy="273960"/>
          </a:xfrm>
          <a:prstGeom prst="roundRect">
            <a:avLst>
              <a:gd name="adj" fmla="val 16667"/>
            </a:avLst>
          </a:prstGeom>
          <a:solidFill>
            <a:srgbClr val="dc262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0" bIns="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en-US" sz="1200" spc="-1" strike="noStrike">
                <a:solidFill>
                  <a:srgbClr val="ffffff"/>
                </a:solidFill>
                <a:latin typeface="Noto Sans Thai Looped"/>
              </a:rPr>
              <a:t>starter/coupons.go — </a:t>
            </a:r>
            <a:r>
              <a:rPr b="1" lang="hi-IN" sz="1200" spc="-1" strike="noStrike">
                <a:solidFill>
                  <a:srgbClr val="ffffff"/>
                </a:solidFill>
                <a:latin typeface="Noto Sans Thai Looped"/>
              </a:rPr>
              <a:t>จุดตั้งต้น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TextBox 5"/>
          <p:cNvSpPr/>
          <p:nvPr/>
        </p:nvSpPr>
        <p:spPr>
          <a:xfrm>
            <a:off x="6858000" y="1920240"/>
            <a:ext cx="4845960" cy="238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1" lang="hi-IN" sz="1800" spc="-1" strike="noStrike">
                <a:solidFill>
                  <a:srgbClr val="0d9488"/>
                </a:solidFill>
                <a:latin typeface="Noto Sans Thai Looped"/>
              </a:rPr>
              <a:t>โจทย์ของคุณ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1.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แยก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Actions / Calculations / Data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ให้ครบ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2.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ดึง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FindApplicableCoupons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ออกมา — เขียน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table-driven test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ก่อน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implementation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3.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เหลือ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SendCouponEmail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เป็น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action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บาง ๆ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500" spc="-1" strike="noStrike">
                <a:solidFill>
                  <a:srgbClr val="0f172a"/>
                </a:solidFill>
                <a:latin typeface="Ubuntu"/>
              </a:rPr>
              <a:t>4.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ทำเสร็จค่อยเปิดดู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solution/ </a:t>
            </a:r>
            <a:r>
              <a:rPr b="0" lang="hi-IN" sz="1500" spc="-1" strike="noStrike">
                <a:solidFill>
                  <a:srgbClr val="0f172a"/>
                </a:solidFill>
                <a:latin typeface="Noto Sans Thai Looped"/>
              </a:rPr>
              <a:t>ใน </a:t>
            </a:r>
            <a:r>
              <a:rPr b="0" lang="en-US" sz="1500" spc="-1" strike="noStrike">
                <a:solidFill>
                  <a:srgbClr val="0f172a"/>
                </a:solidFill>
                <a:latin typeface="Noto Sans Thai Looped"/>
              </a:rPr>
              <a:t>repo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601"/>
              </a:spcAft>
            </a:pPr>
            <a:r>
              <a:rPr b="0" i="1" lang="hi-IN" sz="1300" spc="-1" strike="noStrike">
                <a:solidFill>
                  <a:srgbClr val="64748b"/>
                </a:solidFill>
                <a:latin typeface="Noto Sans Thai Looped"/>
              </a:rPr>
              <a:t>กติกาโจทย์</a:t>
            </a:r>
            <a:r>
              <a:rPr b="0" i="1" lang="en-US" sz="1300" spc="-1" strike="noStrike">
                <a:solidFill>
                  <a:srgbClr val="64748b"/>
                </a:solidFill>
                <a:latin typeface="Noto Sans Thai Looped"/>
              </a:rPr>
              <a:t>: </a:t>
            </a:r>
            <a:r>
              <a:rPr b="0" i="1" lang="hi-IN" sz="1300" spc="-1" strike="noStrike">
                <a:solidFill>
                  <a:srgbClr val="64748b"/>
                </a:solidFill>
                <a:latin typeface="Noto Sans Thai Looped"/>
              </a:rPr>
              <a:t>เงินเป็นบาทเต็มไม่ติดลบ </a:t>
            </a:r>
            <a:r>
              <a:rPr b="0" i="1" lang="en-US" sz="1300" spc="-1" strike="noStrike">
                <a:solidFill>
                  <a:srgbClr val="64748b"/>
                </a:solidFill>
                <a:latin typeface="Noto Sans Thai Looped"/>
              </a:rPr>
              <a:t>· coupon </a:t>
            </a:r>
            <a:r>
              <a:rPr b="0" i="1" lang="hi-IN" sz="1300" spc="-1" strike="noStrike">
                <a:solidFill>
                  <a:srgbClr val="64748b"/>
                </a:solidFill>
                <a:latin typeface="Noto Sans Thai Looped"/>
              </a:rPr>
              <a:t>ไม่มีหมวด </a:t>
            </a:r>
            <a:r>
              <a:rPr b="0" i="1" lang="en-US" sz="1300" spc="-1" strike="noStrike">
                <a:solidFill>
                  <a:srgbClr val="64748b"/>
                </a:solidFill>
                <a:latin typeface="Noto Sans Thai Looped"/>
              </a:rPr>
              <a:t>= </a:t>
            </a:r>
            <a:r>
              <a:rPr b="0" i="1" lang="hi-IN" sz="1300" spc="-1" strike="noStrike">
                <a:solidFill>
                  <a:srgbClr val="64748b"/>
                </a:solidFill>
                <a:latin typeface="Noto Sans Thai Looped"/>
              </a:rPr>
              <a:t>ใช้ได้ทุกหมวด </a:t>
            </a:r>
            <a:r>
              <a:rPr b="0" i="1" lang="en-US" sz="1300" spc="-1" strike="noStrike">
                <a:solidFill>
                  <a:srgbClr val="64748b"/>
                </a:solidFill>
                <a:latin typeface="Noto Sans Thai Looped"/>
              </a:rPr>
              <a:t>· </a:t>
            </a:r>
            <a:r>
              <a:rPr b="0" i="1" lang="hi-IN" sz="1300" spc="-1" strike="noStrike">
                <a:solidFill>
                  <a:srgbClr val="64748b"/>
                </a:solidFill>
                <a:latin typeface="Noto Sans Thai Looped"/>
              </a:rPr>
              <a:t>รักษาลำดับเดิม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Rounded Rectangle 6"/>
          <p:cNvSpPr/>
          <p:nvPr/>
        </p:nvSpPr>
        <p:spPr>
          <a:xfrm>
            <a:off x="548640" y="5989320"/>
            <a:ext cx="11109600" cy="566640"/>
          </a:xfrm>
          <a:prstGeom prst="roundRect">
            <a:avLst>
              <a:gd name="adj" fmla="val 16667"/>
            </a:avLst>
          </a:prstGeom>
          <a:solidFill>
            <a:srgbClr val="ccfbf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54720" bIns="36720" anchor="ctr">
            <a:noAutofit/>
          </a:bodyPr>
          <a:p>
            <a:pPr defTabSz="457200">
              <a:lnSpc>
                <a:spcPct val="100000"/>
              </a:lnSpc>
            </a:pP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จำไว้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เป้าหมาย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: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กติกาธุรกิจทั้งหมดอยู่ใน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calculation </a:t>
            </a:r>
            <a:r>
              <a:rPr b="1" lang="hi-IN" sz="1500" spc="-1" strike="noStrike">
                <a:solidFill>
                  <a:srgbClr val="0f766e"/>
                </a:solidFill>
                <a:latin typeface="Noto Sans Thai Looped"/>
              </a:rPr>
              <a:t>ที่เทสต์ได้ โดยไม่ต้องแตะ </a:t>
            </a:r>
            <a:r>
              <a:rPr b="1" lang="en-US" sz="1500" spc="-1" strike="noStrike">
                <a:solidFill>
                  <a:srgbClr val="0f766e"/>
                </a:solidFill>
                <a:latin typeface="Noto Sans Thai Looped"/>
              </a:rPr>
              <a:t>I/O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TextBox 1"/>
          <p:cNvSpPr/>
          <p:nvPr/>
        </p:nvSpPr>
        <p:spPr>
          <a:xfrm>
            <a:off x="502920" y="292680"/>
            <a:ext cx="11155320" cy="54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201"/>
              </a:spcAft>
            </a:pPr>
            <a:r>
              <a:rPr b="1" lang="hi-IN" sz="3000" spc="-1" strike="noStrike">
                <a:solidFill>
                  <a:srgbClr val="0f172a"/>
                </a:solidFill>
                <a:latin typeface="Noto Sans Thai Looped"/>
              </a:rPr>
              <a:t>อ่านต่อ</a:t>
            </a:r>
            <a:endParaRPr b="0" lang="en-US" sz="3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Rectangle 2"/>
          <p:cNvSpPr/>
          <p:nvPr/>
        </p:nvSpPr>
        <p:spPr>
          <a:xfrm>
            <a:off x="502920" y="1207080"/>
            <a:ext cx="11201040" cy="27720"/>
          </a:xfrm>
          <a:prstGeom prst="rect">
            <a:avLst/>
          </a:prstGeom>
          <a:solidFill>
            <a:srgbClr val="0d948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-16920" bIns="-16920" anchor="ctr">
            <a:noAutofit/>
          </a:bodyPr>
          <a:p>
            <a:pPr algn="ctr" defTabSz="457200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142" name="TextBox 3"/>
          <p:cNvSpPr/>
          <p:nvPr/>
        </p:nvSpPr>
        <p:spPr>
          <a:xfrm>
            <a:off x="548640" y="1645920"/>
            <a:ext cx="11063880" cy="20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Grokking Simplicity — Eric Normand (Manning 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2021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) · </a:t>
            </a:r>
            <a:r>
              <a:rPr b="0" lang="hi-IN" sz="1700" spc="-1" strike="noStrike">
                <a:solidFill>
                  <a:srgbClr val="0f172a"/>
                </a:solidFill>
                <a:latin typeface="Noto Sans Thai Looped"/>
              </a:rPr>
              <a:t>โฟกัส 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ch.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3–5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 (ACD), ch.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6–7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 (immutability), ch.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10–14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 (first-class functions)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Functional Programming in Go — Dylan Meeus (Packt 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2023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)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Go blog: Range Over Function Types (Go </a:t>
            </a:r>
            <a:r>
              <a:rPr b="0" lang="en-US" sz="1700" spc="-1" strike="noStrike">
                <a:solidFill>
                  <a:srgbClr val="0f172a"/>
                </a:solidFill>
                <a:latin typeface="Ubuntu"/>
              </a:rPr>
              <a:t>1.23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) — go.dev/blog/range-functions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0" lang="en-US" sz="1700" spc="-1" strike="noStrike">
                <a:solidFill>
                  <a:srgbClr val="0f172a"/>
                </a:solidFill>
                <a:latin typeface="Noto Sans Thai Looped"/>
              </a:rPr>
              <a:t>Codewalk: First-Class Functions in Go — go.dev/doc/codewalk/functions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  <a:p>
            <a:pPr defTabSz="457200">
              <a:lnSpc>
                <a:spcPct val="100000"/>
              </a:lnSpc>
              <a:spcAft>
                <a:spcPts val="799"/>
              </a:spcAft>
            </a:pPr>
            <a:r>
              <a:rPr b="1" lang="en-US" sz="1700" spc="-1" strike="noStrike">
                <a:solidFill>
                  <a:srgbClr val="0f172a"/>
                </a:solidFill>
                <a:latin typeface="Noto Sans Thai Looped"/>
              </a:rPr>
              <a:t>• </a:t>
            </a:r>
            <a:r>
              <a:rPr b="1" lang="hi-IN" sz="1700" spc="-1" strike="noStrike">
                <a:solidFill>
                  <a:srgbClr val="0f172a"/>
                </a:solidFill>
                <a:latin typeface="Noto Sans Thai Looped"/>
              </a:rPr>
              <a:t>โค้ดทั้งหมดในวันนี้ </a:t>
            </a:r>
            <a:r>
              <a:rPr b="1" lang="en-US" sz="1700" spc="-1" strike="noStrike">
                <a:solidFill>
                  <a:srgbClr val="0f172a"/>
                </a:solidFill>
                <a:latin typeface="Noto Sans Thai Looped"/>
              </a:rPr>
              <a:t>(</a:t>
            </a:r>
            <a:r>
              <a:rPr b="1" lang="hi-IN" sz="1700" spc="-1" strike="noStrike">
                <a:solidFill>
                  <a:srgbClr val="0f172a"/>
                </a:solidFill>
                <a:latin typeface="Noto Sans Thai Looped"/>
              </a:rPr>
              <a:t>พร้อมเทสต์</a:t>
            </a:r>
            <a:r>
              <a:rPr b="1" lang="en-US" sz="1700" spc="-1" strike="noStrike">
                <a:solidFill>
                  <a:srgbClr val="0f172a"/>
                </a:solidFill>
                <a:latin typeface="Noto Sans Thai Looped"/>
              </a:rPr>
              <a:t>): ~/src/go-fp — go test ./... </a:t>
            </a:r>
            <a:r>
              <a:rPr b="1" lang="hi-IN" sz="1700" spc="-1" strike="noStrike">
                <a:solidFill>
                  <a:srgbClr val="0f172a"/>
                </a:solidFill>
                <a:latin typeface="Noto Sans Thai Looped"/>
              </a:rPr>
              <a:t>ผ่านทุก </a:t>
            </a:r>
            <a:r>
              <a:rPr b="1" lang="en-US" sz="1700" spc="-1" strike="noStrike">
                <a:solidFill>
                  <a:srgbClr val="0f172a"/>
                </a:solidFill>
                <a:latin typeface="Noto Sans Thai Looped"/>
              </a:rPr>
              <a:t>package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Box 4"/>
          <p:cNvSpPr/>
          <p:nvPr/>
        </p:nvSpPr>
        <p:spPr>
          <a:xfrm>
            <a:off x="548640" y="5760720"/>
            <a:ext cx="11063880" cy="39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  <a:spcAft>
                <a:spcPts val="601"/>
              </a:spcAft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38</TotalTime>
  <Application>LibreOffice/24.2.7.2$Linux_X86_64 LibreOffice_project/420$Build-2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cp:lastPrinted>2026-10-17T19:19:21Z</cp:lastPrinted>
  <dcterms:modified xsi:type="dcterms:W3CDTF">2026-10-17T19:55:53Z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