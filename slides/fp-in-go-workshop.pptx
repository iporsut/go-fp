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เปิดด้วยคำถาม: เคยแก้ bug ที่โค้ด 'รันครั้งที่สองผลไม่เหมือนครั้งแรก' ไหม? — นั่นคือ action ที่หลุดมาปน calculation ทั้งงานนี้ไม่พูด monad/functor เลย โค้ดทั้งหมดอยู่ที่ ~/src/go-fp รัน go test ./... ได้หมด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ย้ำสัญญากับผู้เรียน: จบ 2 ชม. จะได้ 'ทักษะมองโค้ด' ที่ใช้กับ legacy Go ได้ทันที ไม่ใช่ type theory ถ้าเวลาเริ่มเบี้ยว middleware เป็นตัวตัดก่อน (ข้ามได้ ไม่กระทบเรื่องเล่า)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ให้ผู้เรียนลองยกตัวอย่าง action/calculation จากงานตัวเองคนละ 1 อย่าง (30 วินาที) ก่อนไปสไลด์ถัดไป — คำถามชี้ว่า calculation มักแฝง 'ในหัว' เช่น กติกาส่วนลดที่อยู่ใน if ของ handler ใหญ่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อย่าเฉลยเร็ว — ปล่อยให้เถียงกันก่อน จุดที่ควรติง: order.Total ถูก mutate (action บน data), กติกา 1000→90% คือ calculation ที่ฝังอยู่, time.Now/print/save คือ action ชัด ๆ ปิดท้าย: 'ถ้ากติกาส่วนลดเปลี่ยน เราต้องรันระบบทั้งระบบเพื่อ test ไหม?' → ทำไมต้องแยก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พิมพ์สดให้เห็น (หรือสลับหน้าจอ go-fp/02) ประเด็นสำคัญ: การ test ตัว ❌ ต้องจับ stdout + ระวัง input ถูก mutate — ตัว ✅ test ด้วยตาราง 3 บรรทัด ถามต่อ: แล้ว LogDiscount ยัง test ยากไหม? → action ไม่หายไป แต่ถูก 'ย้ายไปขอบ'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โค้ดเต็มใน go-fp/04-closures-currying มี test ของ Adder/Curry2 ให้ผู้เรียนลองเดาลายเซ็น Curry2 ก่อนเฉลย — ย้ำว่า Go verbose กว่า ML-family ชัดเจน นี่คือเหตุผลที่ Go ไม่มี pipe operator (ตอบคำถามที่มักโผล่)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ถ้ามีเวลา ให้รันสดบน Go เวอร์ชันเก่า/ใหม่เทียบกัน (gotip) คนที่เคยโดน bug นี้จะตื่นเต้นเอง — เชื่อมกลับ ACD: goroutine คือ action การจับตัวแปรร่วมคือ data ที่แชร์กันโดยไม่ตั้งใจ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แนะให้ผู้เรียนเปิด fp_test.go เป็นตัวอย่าง TDD: เขียน test ก่อน implementation เห็นลายเซ็น generic ทีละขั้น (แนวบทความ bitfieldconsulting) ถ้ามีคนถาม performance — for loop ตรง ๆ ชนะเสมอ ไม่มี magic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 aha moment ของวัน: หลายคนใช้ zap.New(...WithFields) มาตลอดแต่ไม่เคยมองว่ามันคือ FP pattern ถาม: ทำไมไม่ใช้ struct config ธรรมดา? → options ขยายได้ไม่ทำ breaking change + default ชัด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โค้ดเต็ม + httptest อยู่ go-fp/06-middleware ถ้าเวลาเหลือน้อยกว่า 15 นาที ณ จุดนี้ ให้ตัดเลย — พูดประโยคเดียว: 'middleware ก็คือการเอาฟังก์ชันมาคู่กัน แล้วลำดับมีความหมาย' แล้วข้าม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เดินดูรอบห้อง จุดพลาดที่เจอบ่อย: (1) ลืมรักษาลำดับคูปองเดิม (2) คนที่ return slice ใหม่แต่ mutate element ข้างใน — ถามว่า pure จริงไหม (3) ฝั่ง action บางคนยังเอาการหา coupon ไปแอบใส่ ย้ำ: exercise เวอร์ชันเต็มอยู่ใน EXERCISE.md ให้ผู้เรียนเปิดตามได้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เฉลยสั้น ๆ แล้วโชว์ iter.Seq เป็นของหวาน: range-over-func ทำให้ infinite sequence เขียนได้ปลอดภัยเพราะ yield คืน false ได้ (ผู้บริโภคสั่งหยุด) อย่าลืมบอกว่า int overflow ถ้าดันอ่านไกล — ของจริงไม่มีอะไร infinite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 call to action: สัปดาห์หน้าลองหยิบ handler ใน service ตัวเองมา 1 ตัว แยก ACD แล้วดึง calculation ออกมา 1 ชิ้น — ทำ 15 นาทีก็คุ้ม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เผื่อ Q&amp;A: คำถามที่น่าจะโผล่ — (1) ทำไม Go ไม่มี pipe operator → verbose by design + error ทำ chain ยาก (2) copy-on-write แพงไหม → benchmark ใน go-fp/08: struct เล็กต่างกัน ~0.05 ns/op (3) goroutine/channel เข้ากรอบไหน → channel คือ data, การส่ง/รับคือ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0F172A"/>
                </a:solidFill>
                <a:latin typeface="Noto Sans Thai Looped"/>
              </a:rPr>
              <a:t>Explore Functional Programming in Go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D9488"/>
                </a:solidFill>
                <a:latin typeface="Noto Sans Thai Looped"/>
              </a:rPr>
              <a:t>เวิร์กชอป </a:t>
            </a:r>
            <a:r>
              <a:rPr sz="2200" b="0" i="0">
                <a:solidFill>
                  <a:srgbClr val="0D9488"/>
                </a:solidFill>
                <a:latin typeface="Ubuntu"/>
              </a:rPr>
              <a:t>2</a:t>
            </a:r>
            <a:r>
              <a:rPr sz="2200" b="0" i="0">
                <a:solidFill>
                  <a:srgbClr val="0D9488"/>
                </a:solidFill>
                <a:latin typeface="Noto Sans Thai Looped"/>
              </a:rPr>
              <a:t> ชั่วโมง · กรอบ Actions / Calculations / Data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4748B"/>
                </a:solidFill>
                <a:latin typeface="Noto Sans Thai Looped"/>
              </a:rPr>
              <a:t>แนวคิดจาก Grokking Simplicity (Eric Normand) — แบบ pragmatic สำหรับ Go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hai Looped"/>
              </a:rPr>
              <a:t>อาทิตย์ที่ </a:t>
            </a:r>
            <a:r>
              <a:rPr sz="1400" b="0" i="0">
                <a:solidFill>
                  <a:srgbClr val="64748B"/>
                </a:solidFill>
                <a:latin typeface="Ubuntu"/>
              </a:rPr>
              <a:t>18</a:t>
            </a:r>
            <a:r>
              <a:rPr sz="1400" b="0" i="0">
                <a:solidFill>
                  <a:srgbClr val="64748B"/>
                </a:solidFill>
                <a:latin typeface="Noto Sans Thai Looped"/>
              </a:rPr>
              <a:t> ตุลาคม </a:t>
            </a:r>
            <a:r>
              <a:rPr sz="1400" b="0" i="0">
                <a:solidFill>
                  <a:srgbClr val="64748B"/>
                </a:solidFill>
                <a:latin typeface="Ubuntu"/>
              </a:rPr>
              <a:t>2026</a:t>
            </a:r>
            <a:r>
              <a:rPr sz="1400" b="0" i="0">
                <a:solidFill>
                  <a:srgbClr val="64748B"/>
                </a:solidFill>
                <a:latin typeface="Noto Sans Thai Looped"/>
              </a:rPr>
              <a:t> · โค้ดตัวอย่าง: ~/src/go-fp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แผนวันนี้ (</a:t>
            </a:r>
            <a:r>
              <a:rPr sz="3000" b="1" i="0">
                <a:solidFill>
                  <a:srgbClr val="0F172A"/>
                </a:solidFill>
                <a:latin typeface="Ubuntu"/>
              </a:rPr>
              <a:t>2</a:t>
            </a:r>
            <a:r>
              <a:rPr sz="3000" b="1" i="0">
                <a:solidFill>
                  <a:srgbClr val="0F172A"/>
                </a:solidFill>
                <a:latin typeface="Noto Sans Thai Looped"/>
              </a:rPr>
              <a:t> ชม.)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hai Looped"/>
              </a:rPr>
              <a:t>มองโค้ด → เขียนโค้ด → ใช้จริง → ลงมือทำ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109958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085"/>
                <a:gridCol w="3121806"/>
                <a:gridCol w="6519067"/>
              </a:tblGrid>
              <a:tr h="692331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เวลา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เรื่อง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วิธี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Ubuntu"/>
                        </a:rPr>
                        <a:t>0:00–0:15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เปิด: โค้ดปนเปื้อน </a:t>
                      </a:r>
                      <a:r>
                        <a:rPr sz="1400" b="0">
                          <a:solidFill>
                            <a:srgbClr val="0F172A"/>
                          </a:solidFill>
                          <a:latin typeface="Ubuntu"/>
                        </a:rPr>
                        <a:t>1</a:t>
                      </a:r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 หน้า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แยก Action/Calculation/Data ร่วมกันบนกระดาน</a:t>
                      </a:r>
                    </a:p>
                  </a:txBody>
                  <a:tcPr marT="36576" marB="36576"/>
                </a:tc>
              </a:tr>
              <a:tr h="69233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Ubuntu"/>
                        </a:rPr>
                        <a:t>0:15–0:40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Refactor live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ดึง calculation ออกจาก action → test ง่ายขึ้น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Ubuntu"/>
                        </a:rPr>
                        <a:t>0:40–1:05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เครื่องมือของ Go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HOF, closures (+ pitfall), generics Map/Filter/Reduce</a:t>
                      </a:r>
                    </a:p>
                  </a:txBody>
                  <a:tcPr marT="36576" marB="36576"/>
                </a:tc>
              </a:tr>
              <a:tr h="69233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Ubuntu"/>
                        </a:rPr>
                        <a:t>1:05–1:25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FP ในโค้ดจริง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Functional Options + middleware (= composition)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Ubuntu"/>
                        </a:rPr>
                        <a:t>1:25–1:45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เวิร์กชอป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แยก coupon ออกจาก sending email ด้วยมือตัวเอง</a:t>
                      </a:r>
                    </a:p>
                  </a:txBody>
                  <a:tcPr marT="36576" marB="36576"/>
                </a:tc>
              </a:tr>
              <a:tr h="69233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Ubuntu"/>
                        </a:rPr>
                        <a:t>1:45–2:00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ของหวาน + สรุป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iter.Seq lazy pipeline + cheat sheet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แกนคิดของวันนี้: Actions / Calculations /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5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539"/>
                <a:gridCol w="3305442"/>
                <a:gridCol w="4223621"/>
                <a:gridCol w="1836357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ประเภท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คืออะไร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ตัวอย่าง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ชื่อ FP อื่นเรียก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Data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ข้อเท็จจริงของเหตุการณ์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email ที่ user กรอก, ยอดเงินจาก API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—</a:t>
                      </a:r>
                    </a:p>
                  </a:txBody>
                  <a:tcPr marT="36576" marB="36576"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Calculation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input เดิม → output เดิม เสมอ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หาส่วนลด, validate email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pure function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Action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ผลขึ้นกับ 'รันกี่ครั้ง / เมื่อไหร่'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ส่ง email, เขียน DB, อ่านเวลา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side effect</a:t>
                      </a:r>
                    </a:p>
                  </a:txBody>
                  <a:tcPr marT="36576" marB="3657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Noto Sans Thai Looped"/>
              </a:rPr>
              <a:t>• ทักษะที่ต้องการคือ "การมองโค้ด" (spotting) ก่อนเทคนิค — ใช้กับ legacy Go ได้ทันที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Noto Sans Thai Looped"/>
              </a:rPr>
              <a:t>• Go เป็นภาษาที่ action หลุดมาง่าย: mutation, goroutine, I/O อยู่ใกล้มือเสมอ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D9488"/>
                </a:solidFill>
                <a:latin typeface="Noto Sans Thai Looped"/>
              </a:rPr>
              <a:t>• วันนี้ไม่มี monad / functor / type theory — มีแต่คำถามเดียว: โค้ดบรรทัดนี้ "พึ่งโลกภายนอก" ไหม?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เปิด: โค้ดนี้ทำอะไรบ้าง?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hai Looped"/>
              </a:rPr>
              <a:t>จาก go-fp/</a:t>
            </a:r>
            <a:r>
              <a:rPr sz="1400" b="0" i="0">
                <a:solidFill>
                  <a:srgbClr val="64748B"/>
                </a:solidFill>
                <a:latin typeface="Ubuntu"/>
              </a:rPr>
              <a:t>01-</a:t>
            </a:r>
            <a:r>
              <a:rPr sz="1400" b="0" i="0">
                <a:solidFill>
                  <a:srgbClr val="64748B"/>
                </a:solidFill>
                <a:latin typeface="Noto Sans Thai Looped"/>
              </a:rPr>
              <a:t>acd-opener — ลองตีเส้นแยก: บรรทัดไหน Data / Calculation / Action?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0:00–0:15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7406640" cy="448056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func ProcessOrder(order *Order) {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order.ProcessedAt = time.Now()          </a:t>
            </a:r>
            <a:r>
              <a:rPr sz="1300" i="1">
                <a:solidFill>
                  <a:srgbClr val="94A3B8"/>
                </a:solidFill>
                <a:latin typeface="DejaVu Sans Mono"/>
              </a:rPr>
              <a:t>// ????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fmt.Printf("processing %s ...", order.Email)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order.Total = 0                          </a:t>
            </a:r>
            <a:r>
              <a:rPr sz="1300" i="1">
                <a:solidFill>
                  <a:srgbClr val="94A3B8"/>
                </a:solidFill>
                <a:latin typeface="DejaVu Sans Mono"/>
              </a:rPr>
              <a:t>// ????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for _, it := range order.Items {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    order.Total += it.Price * it.Quantity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if order.Total &gt;= 1000 {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    order.Total = order.Total * 90 / 100 </a:t>
            </a:r>
            <a:r>
              <a:rPr sz="1300" i="1">
                <a:solidFill>
                  <a:srgbClr val="94A3B8"/>
                </a:solidFill>
                <a:latin typeface="DejaVu Sans Mono"/>
              </a:rPr>
              <a:t>// ????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orders[order.Email] = *order             </a:t>
            </a:r>
            <a:r>
              <a:rPr sz="1300" i="1">
                <a:solidFill>
                  <a:srgbClr val="94A3B8"/>
                </a:solidFill>
                <a:latin typeface="DejaVu Sans Mono"/>
              </a:rPr>
              <a:t>// ????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    fmt.Printf("saved: total=%d", order.Total)</a:t>
            </a:r>
          </a:p>
          <a:p>
            <a:pPr algn="l">
              <a:spcAft>
                <a:spcPts val="0"/>
              </a:spcAft>
            </a:pPr>
            <a:r>
              <a:rPr sz="1300" i="0">
                <a:solidFill>
                  <a:srgbClr val="E2E8F0"/>
                </a:solidFill>
                <a:latin typeface="DejaVu Sans Mon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D9488"/>
                </a:solidFill>
                <a:latin typeface="Noto Sans Thai Looped"/>
              </a:rPr>
              <a:t>กติกา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อ่านเงียบ ๆ 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1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นาที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จับคู่ชี้บรรทัด 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3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นาที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เฉลยบนกระดานร่วมกัน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Noto Sans Thai Looped"/>
              </a:rPr>
              <a:t>คำใบ้: บรรทัดเดียวอาจมีมากกว่า </a:t>
            </a:r>
            <a:r>
              <a:rPr sz="1300" b="0" i="1">
                <a:solidFill>
                  <a:srgbClr val="64748B"/>
                </a:solidFill>
                <a:latin typeface="Ubuntu"/>
              </a:rPr>
              <a:t>1</a:t>
            </a:r>
            <a:r>
              <a:rPr sz="1300" b="0" i="1">
                <a:solidFill>
                  <a:srgbClr val="64748B"/>
                </a:solidFill>
                <a:latin typeface="Noto Sans Thai Looped"/>
              </a:rPr>
              <a:t> ประเภทซ้อนกัน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Refactor live: ดึง Calculation ออกจาก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0:15–0:40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22860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200" i="1">
                <a:solidFill>
                  <a:srgbClr val="94A3B8"/>
                </a:solidFill>
                <a:latin typeface="DejaVu Sans Mono"/>
              </a:rPr>
              <a:t>// ❌ Action ปน Calculation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func ApplyDiscount(cart Cart) Cart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fmt.Println("applying discount")   </a:t>
            </a:r>
            <a:r>
              <a:rPr sz="1200" i="1">
                <a:solidFill>
                  <a:srgbClr val="94A3B8"/>
                </a:solidFill>
                <a:latin typeface="DejaVu Sans Mono"/>
              </a:rPr>
              <a:t>// side effect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cart.Total = cart.Total * 90 / 100 </a:t>
            </a:r>
            <a:r>
              <a:rPr sz="1200" i="1">
                <a:solidFill>
                  <a:srgbClr val="94A3B8"/>
                </a:solidFill>
                <a:latin typeface="DejaVu Sans Mono"/>
              </a:rPr>
              <a:t>// mutate input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return cart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0744"/>
            <a:ext cx="969264" cy="2743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Thai Looped"/>
              </a:rPr>
              <a:t>❌ ก่อน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22860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200" i="1">
                <a:solidFill>
                  <a:srgbClr val="94A3B8"/>
                </a:solidFill>
                <a:latin typeface="DejaVu Sans Mono"/>
              </a:rPr>
              <a:t>// ✅ Calculation — pure, ทดสอบง่าย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func Discounted(total int) int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return total * 90 / 100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200" i="1">
                <a:solidFill>
                  <a:srgbClr val="94A3B8"/>
                </a:solidFill>
                <a:latin typeface="DejaVu Sans Mono"/>
              </a:rPr>
              <a:t>// action บาง ๆ ทำหน้าที่แค่ "เกิดขึ้น"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func LogDiscount(total int)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fmt.Println("discount", Discounted(total))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80744"/>
            <a:ext cx="969264" cy="2743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Thai Looped"/>
              </a:rPr>
              <a:t>✅ หลัง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11109960" cy="22402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func TestDiscounted(t *testing.T) {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tests := []struct{ in, want int }{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    {1000, 900}, {999, 999}, {0, 0},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for _, tt := range tests {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    if got := Discounted(tt.in); got != tt.want {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        t.Errorf("Discounted(%d) = %d; want %d",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            tt.in, got, tt.want)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    }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100" i="0">
                <a:solidFill>
                  <a:srgbClr val="E2E8F0"/>
                </a:solidFill>
                <a:latin typeface="DejaVu Sans Mono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23944"/>
            <a:ext cx="5998464" cy="2743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Thai Looped"/>
              </a:rPr>
              <a:t>table-driven test — ไม่ต้อง mock, ไม่ต้อง capture stdout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เครื่องมือของ Go (</a:t>
            </a:r>
            <a:r>
              <a:rPr sz="3000" b="1" i="0">
                <a:solidFill>
                  <a:srgbClr val="0F172A"/>
                </a:solidFill>
                <a:latin typeface="Ubuntu"/>
              </a:rPr>
              <a:t>1</a:t>
            </a:r>
            <a:r>
              <a:rPr sz="3000" b="1" i="0">
                <a:solidFill>
                  <a:srgbClr val="0F172A"/>
                </a:solidFill>
                <a:latin typeface="Noto Sans Thai Looped"/>
              </a:rPr>
              <a:t>): Higher-order + Closures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hai Looped"/>
              </a:rPr>
              <a:t>ฟังก์ชันเป็นค่าได้ — std lib ใช้เยอะแล้ว: sort.Slice, http.HandleFunc, context.WithCancel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0:40–1:05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109960" cy="3749039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400" i="1">
                <a:solidFill>
                  <a:srgbClr val="94A3B8"/>
                </a:solidFill>
                <a:latin typeface="DejaVu Sans Mono"/>
              </a:rPr>
              <a:t>// currying ด้วย closure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func Adder(a int) func(int) int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return func(b int) int { return a + b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add10 := Adder(10)        </a:t>
            </a:r>
            <a:r>
              <a:rPr sz="1400" i="1">
                <a:solidFill>
                  <a:srgbClr val="94A3B8"/>
                </a:solidFill>
                <a:latin typeface="DejaVu Sans Mono"/>
              </a:rPr>
              <a:t>// เก็บ "ครึ่งการคำนวณ" ไว้ก่อน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add10(5)                  </a:t>
            </a:r>
            <a:r>
              <a:rPr sz="1400" i="1">
                <a:solidFill>
                  <a:srgbClr val="94A3B8"/>
                </a:solidFill>
                <a:latin typeface="DejaVu Sans Mono"/>
              </a:rPr>
              <a:t>// == 15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400" i="1">
                <a:solidFill>
                  <a:srgbClr val="94A3B8"/>
                </a:solidFill>
                <a:latin typeface="DejaVu Sans Mono"/>
              </a:rPr>
              <a:t>// generic curry 2 พารามิเตอร์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func Curry2[A, B, R any](f func(A, B) R) func(A) func(B) R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return func(a A) func(B) R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    return func(b B) R { return f(a, b)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closure = ฟังก์ชันที่จำบริบทตอนถูกสร้าง → นี่คือวิธี Go ทำ partial application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แต่ระวัง: closure จับ 'ตัวแปร' ไม่ใช่ 'ค่า' → เจอเรื่องในสไลด์ถัดไป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Pitfall ที่ต้องรู้: loop variable (ก่อน Go </a:t>
            </a:r>
            <a:r>
              <a:rPr sz="3000" b="1" i="0">
                <a:solidFill>
                  <a:srgbClr val="0F172A"/>
                </a:solidFill>
                <a:latin typeface="Ubuntu"/>
              </a:rPr>
              <a:t>1.22</a:t>
            </a:r>
            <a:r>
              <a:rPr sz="3000" b="1" i="0">
                <a:solidFill>
                  <a:srgbClr val="0F172A"/>
                </a:solidFill>
                <a:latin typeface="Noto Sans Thai Looped"/>
              </a:rPr>
              <a:t>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0:40–1:05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109960" cy="393192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for i := 0; i &lt; 3; i++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go func() { fmt.Println(i) }()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400" i="1">
                <a:solidFill>
                  <a:srgbClr val="94A3B8"/>
                </a:solidFill>
                <a:latin typeface="DejaVu Sans Mono"/>
              </a:rPr>
              <a:t>// Go 1.22+: พิมพ์ 0..2 ไม่ซ้้า (loop var แยกต่อรอบ)</a:t>
            </a:r>
          </a:p>
          <a:p>
            <a:pPr algn="l">
              <a:spcAft>
                <a:spcPts val="0"/>
              </a:spcAft>
            </a:pPr>
            <a:r>
              <a:rPr sz="1400" i="1">
                <a:solidFill>
                  <a:srgbClr val="94A3B8"/>
                </a:solidFill>
                <a:latin typeface="DejaVu Sans Mono"/>
              </a:rPr>
              <a:t>// Go 1.21-:  ส่วนใหญ่พิมพ์ 3 3 3 (ตัวแปรตัวเดียวถูกจับร่วม)</a:t>
            </a:r>
          </a:p>
          <a:p>
            <a:pPr algn="l">
              <a:spcAft>
                <a:spcPts val="0"/>
              </a:spcAft>
            </a:pPr>
            <a:r>
              <a:rPr sz="1400" i="1">
                <a:solidFill>
                  <a:srgbClr val="94A3B8"/>
                </a:solidFill>
                <a:latin typeface="DejaVu Sans Mono"/>
              </a:rPr>
              <a:t>//</a:t>
            </a:r>
          </a:p>
          <a:p>
            <a:pPr algn="l">
              <a:spcAft>
                <a:spcPts val="0"/>
              </a:spcAft>
            </a:pPr>
            <a:r>
              <a:rPr sz="1400" i="1">
                <a:solidFill>
                  <a:srgbClr val="94A3B8"/>
                </a:solidFill>
                <a:latin typeface="DejaVu Sans Mono"/>
              </a:rPr>
              <a:t>// วิธีเดิมก่อน 1.22: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for i := 0; i &lt; 3; i++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i := i </a:t>
            </a:r>
            <a:r>
              <a:rPr sz="1400" i="1">
                <a:solidFill>
                  <a:srgbClr val="94A3B8"/>
                </a:solidFill>
                <a:latin typeface="DejaVu Sans Mono"/>
              </a:rPr>
              <a:t>// สำเนาต่อรอบ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go func() { fmt.Println(i) }()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จุดสอน: closure จับตัวแปรเดียวกัน ไม่ใช่สำเนา — ยกเว้น Go 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1.22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+ ที่ loop var แยกต่อรอบแล้ว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โค้ดเก่าในทีม (ก่อน 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1.22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) ยังมีรอยแก้ i := i ทิ้งไว้ให้เห็นได้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เครื่องมือของ Go (</a:t>
            </a:r>
            <a:r>
              <a:rPr sz="3000" b="1" i="0">
                <a:solidFill>
                  <a:srgbClr val="0F172A"/>
                </a:solidFill>
                <a:latin typeface="Ubuntu"/>
              </a:rPr>
              <a:t>2</a:t>
            </a:r>
            <a:r>
              <a:rPr sz="3000" b="1" i="0">
                <a:solidFill>
                  <a:srgbClr val="0F172A"/>
                </a:solidFill>
                <a:latin typeface="Noto Sans Thai Looped"/>
              </a:rPr>
              <a:t>): Generics — Map / Filter / Reduce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hai Looped"/>
              </a:rPr>
              <a:t>Go </a:t>
            </a:r>
            <a:r>
              <a:rPr sz="1400" b="0" i="0">
                <a:solidFill>
                  <a:srgbClr val="64748B"/>
                </a:solidFill>
                <a:latin typeface="Ubuntu"/>
              </a:rPr>
              <a:t>1.18</a:t>
            </a:r>
            <a:r>
              <a:rPr sz="1400" b="0" i="0">
                <a:solidFill>
                  <a:srgbClr val="64748B"/>
                </a:solidFill>
                <a:latin typeface="Noto Sans Thai Looped"/>
              </a:rPr>
              <a:t>+ · โค้ดเต็ม + TDD ใน go-fp/</a:t>
            </a:r>
            <a:r>
              <a:rPr sz="1400" b="0" i="0">
                <a:solidFill>
                  <a:srgbClr val="64748B"/>
                </a:solidFill>
                <a:latin typeface="Ubuntu"/>
              </a:rPr>
              <a:t>03-</a:t>
            </a:r>
            <a:r>
              <a:rPr sz="1400" b="0" i="0">
                <a:solidFill>
                  <a:srgbClr val="64748B"/>
                </a:solidFill>
                <a:latin typeface="Noto Sans Thai Looped"/>
              </a:rPr>
              <a:t>fp-toolkit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0:40–1:05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1109960" cy="33832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func Map[T, R any](in []T, f func(T) R) []R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out := make([]R, 0, len(in))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for _, v := range in { out = append(out, f(v))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return out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func Filter[T any](in []T, keep func(T) bool) []T { ... 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400" i="1">
                <a:solidFill>
                  <a:srgbClr val="94A3B8"/>
                </a:solidFill>
                <a:latin typeface="DejaVu Sans Mono"/>
              </a:rPr>
              <a:t>// accumulator ต่าง type กับสมาชิกได้ — จุดที่คนถามแน่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func Reduce[T, R any](in []T, init R,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combine func(R, T) R) R { ... 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total := Reduce(items, 0, func(acc int, it Item) int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return acc + it.Price*it.Quantity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Go ไม่มี built-in map/filter — เขียนเองได้ใน 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5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บรรทัด แต่ Go community นิยม for loop ตรง ๆ: โค้ดชุดนี้คือเครื่องมือ 'เรียนรู้' ไม่ใช่แนวปฏิบัติ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Reduce ที่ accumulator ต่าง type กับ element คือจุดที่ generics ช่วยจริง (Reduce[Item, int])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FP ในโค้ดจริง: Functional Options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hai Looped"/>
              </a:rPr>
              <a:t>closure + higher-order function ที่คุณใช้อยู่แล้วโดยไม่รู้ตัว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1:05–1:25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1109960" cy="33832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type Option func(*Server)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func WithPort(p int) Option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return func(s *Server) { s.port = p }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func New(host string, opts ...Option) *Server {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s := &amp;Server{host: host, port: 8080} </a:t>
            </a:r>
            <a:r>
              <a:rPr sz="1400" i="1">
                <a:solidFill>
                  <a:srgbClr val="94A3B8"/>
                </a:solidFill>
                <a:latin typeface="DejaVu Sans Mono"/>
              </a:rPr>
              <a:t>// default ก่อน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for _, o := range opts { o(s) }      </a:t>
            </a:r>
            <a:r>
              <a:rPr sz="1400" i="1">
                <a:solidFill>
                  <a:srgbClr val="94A3B8"/>
                </a:solidFill>
                <a:latin typeface="DejaVu Sans Mono"/>
              </a:rPr>
              <a:t>// แล้ว override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    return s</a:t>
            </a: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400" i="0">
                <a:solidFill>
                  <a:srgbClr val="E2E8F0"/>
                </a:solidFill>
                <a:latin typeface="DejaVu Sans Mono"/>
              </a:rPr>
              <a:t>srv := New("localhost", WithPort(9090))</a:t>
            </a:r>
          </a:p>
          <a:p>
            <a:pPr algn="l">
              <a:spcAft>
                <a:spcPts val="0"/>
              </a:spcAft>
            </a:pPr>
            <a:r>
              <a:rPr sz="1400" i="1">
                <a:solidFill>
                  <a:srgbClr val="94A3B8"/>
                </a:solidFill>
                <a:latin typeface="DejaVu Sans Mono"/>
              </a:rPr>
              <a:t>// grpc-go, zap, aws-sdk-go-v2 ล้วนใช้ pattern 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อ่านได้ว่า: WithPort(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9090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) คือ 'calculation ที่ผลิต action เล็ก ๆ' เอาไว้ยิงใส่ constructor ตอนหลัง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Noto Sans Thai Looped"/>
              </a:rPr>
              <a:t>• เห็นใน production จริง: grpc-go, uber-go/zap, aws-sdk-go-v</a:t>
            </a:r>
            <a:r>
              <a:rPr sz="1500" b="1" i="0">
                <a:solidFill>
                  <a:srgbClr val="0F172A"/>
                </a:solidFill>
                <a:latin typeface="Ubuntu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Middleware = Function Composition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hai Looped"/>
              </a:rPr>
              <a:t>⚠️ สไลด์ 'ตัดได้' ตัวแรก — เวลาไม่พอให้ข้ามไปเวิร์กชอปได้เลย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1:05–1:25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1109960" cy="36576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type Middleware func(http.Handler) http.Handler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func Logger(next http.Handler) http.Handler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return http.HandlerFunc(func(w http.ResponseWriter, r *http.Request)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start := time.Now()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next.ServeHTTP(w, r)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log.Printf("%s %s (%s)", r.Method, r.URL, time.Since(start))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})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func Chain(mw ...Middleware) Middleware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return func(final http.Handler) http.Handler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for i := len(mw) - 1; i &gt;= 0; i--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    final = mw[i](final)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}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return final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http.Handler เป็น function เดียว → wrapper ครอบซ้อน ๆ = composition แบบ Go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อ่าน Chain(Logger, Recover) จากในออกนอก: ลำดับ = ความหมายทางธุรกิจ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เวิร์กชอป: Coupon Email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B"/>
                </a:solidFill>
                <a:latin typeface="Noto Sans Thai Looped"/>
              </a:rPr>
              <a:t>โจทย์จริงจาก Grokking Simplicity บท </a:t>
            </a:r>
            <a:r>
              <a:rPr sz="1400" b="0" i="0">
                <a:solidFill>
                  <a:srgbClr val="64748B"/>
                </a:solidFill>
                <a:latin typeface="Ubuntu"/>
              </a:rPr>
              <a:t>3–5</a:t>
            </a:r>
            <a:r>
              <a:rPr sz="1400" b="0" i="0">
                <a:solidFill>
                  <a:srgbClr val="64748B"/>
                </a:solidFill>
                <a:latin typeface="Noto Sans Thai Looped"/>
              </a:rPr>
              <a:t> (พอร์ตเป็น Go แล้ว: go-fp/</a:t>
            </a:r>
            <a:r>
              <a:rPr sz="1400" b="0" i="0">
                <a:solidFill>
                  <a:srgbClr val="64748B"/>
                </a:solidFill>
                <a:latin typeface="Ubuntu"/>
              </a:rPr>
              <a:t>07-</a:t>
            </a:r>
            <a:r>
              <a:rPr sz="1400" b="0" i="0">
                <a:solidFill>
                  <a:srgbClr val="64748B"/>
                </a:solidFill>
                <a:latin typeface="Noto Sans Thai Looped"/>
              </a:rPr>
              <a:t>coupon-email-exercise)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1:25–1:45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6035040" cy="411480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200" i="1">
                <a:solidFill>
                  <a:srgbClr val="94A3B8"/>
                </a:solidFill>
                <a:latin typeface="DejaVu Sans Mono"/>
              </a:rPr>
              <a:t>// จุดเริ่ม: ทุกอย่างอยู่ในฟังก์ชันเดียว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func EmailCoupons(cart Cart, coupons []Coupon,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out io.Writer) error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fmt.Printf("finding coupons for %s\n", cart.Email)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var codes []string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for _, c := range coupons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if cart.Total &gt;= c.MinimumTotal &amp;&amp;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    (c.Category == "" || c.Category == cart.Category) {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    codes = append(codes, c.Code)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}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_, err := fmt.Fprintf(out,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    "To: %s\nCoupons: %v\n", cart.Email, codes)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    return err</a:t>
            </a:r>
          </a:p>
          <a:p>
            <a:pPr algn="l">
              <a:spcAft>
                <a:spcPts val="0"/>
              </a:spcAft>
            </a:pPr>
            <a:r>
              <a:rPr sz="1200" i="0">
                <a:solidFill>
                  <a:srgbClr val="E2E8F0"/>
                </a:solidFill>
                <a:latin typeface="DejaVu Sans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63623"/>
            <a:ext cx="2176272" cy="2743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Thai Looped"/>
              </a:rPr>
              <a:t>starter/coupons.go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D9488"/>
                </a:solidFill>
                <a:latin typeface="Noto Sans Thai Looped"/>
              </a:rPr>
              <a:t>โจทย์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Ubuntu"/>
              </a:rPr>
              <a:t>1.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จับคู่ — แยก A/C/D ให้ครบ (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3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น.)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Ubuntu"/>
              </a:rPr>
              <a:t>2.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ดึง FindApplicableCoupons ออกมา + เขียน table-driven test ก่อน implementation (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10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น.)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Ubuntu"/>
              </a:rPr>
              <a:t>3.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เหลือ SendCouponEmail เป็น action บาง ๆ (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5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น.)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Ubuntu"/>
              </a:rPr>
              <a:t>4.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เทียบกับ solution/ (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2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 น.)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Noto Sans Thai Looped"/>
              </a:rPr>
              <a:t>กติกา: เงินเป็นบาทเต็มไม่ติดลบ · coupon ไม่มีหมวด = ใช้ได้ทุกหมวด · รักษาลำดับเดิม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เฉลย + ของหวานปิดท้าย: Lazy Pipeline (Go </a:t>
            </a:r>
            <a:r>
              <a:rPr sz="3000" b="1" i="0">
                <a:solidFill>
                  <a:srgbClr val="0F172A"/>
                </a:solidFill>
                <a:latin typeface="Ubuntu"/>
              </a:rPr>
              <a:t>1.23</a:t>
            </a:r>
            <a:r>
              <a:rPr sz="3000" b="1" i="0">
                <a:solidFill>
                  <a:srgbClr val="0F172A"/>
                </a:solidFill>
                <a:latin typeface="Noto Sans Thai Looped"/>
              </a:rPr>
              <a:t>+)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84048"/>
            <a:ext cx="1600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Ubuntu"/>
              </a:rPr>
              <a:t>1:45–2:00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31546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050" i="1">
                <a:solidFill>
                  <a:srgbClr val="94A3B8"/>
                </a:solidFill>
                <a:latin typeface="DejaVu Sans Mono"/>
              </a:rPr>
              <a:t>// Calculation — pure ทดสอบได้โดยไม่ต้อง mock อะไร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func FindApplicableCoupons(cart Cart,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coupons []Coupon) []Coupon {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result := make([]Coupon, 0)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for _, c := range coupons {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if cart.Total &gt;= c.MinimumTotal &amp;&amp;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    (c.Category == "" || c.Category == cart.Category) {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    result = append(result, c)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}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return result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050" i="1">
                <a:solidFill>
                  <a:srgbClr val="94A3B8"/>
                </a:solidFill>
                <a:latin typeface="DejaVu Sans Mono"/>
              </a:rPr>
              <a:t>// Action — บาง ๆ ทำหน้าที่เดียว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func SendCouponEmail(out io.Writer, email string,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coupons []Coupon) error { ...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9304"/>
            <a:ext cx="1271016" cy="2743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Thai Looped"/>
              </a:rPr>
              <a:t>solution/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94960" cy="3154680"/>
          </a:xfrm>
          <a:prstGeom prst="round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09728"/>
          <a:lstStyle/>
          <a:p>
            <a:pPr algn="l">
              <a:spcAft>
                <a:spcPts val="0"/>
              </a:spcAft>
            </a:pPr>
            <a:r>
              <a:rPr sz="1050" i="1">
                <a:solidFill>
                  <a:srgbClr val="94A3B8"/>
                </a:solidFill>
                <a:latin typeface="DejaVu Sans Mono"/>
              </a:rPr>
              <a:t>// infinite sequence — ไม่มีเงื่อนไขหยุดในตัว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func Fibonacci() iter.Seq[int] {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return func(yield func(int) bool) {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a, b := 0, 1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for {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    if !yield(a) { return } </a:t>
            </a:r>
            <a:r>
              <a:rPr sz="1050" i="1">
                <a:solidFill>
                  <a:srgbClr val="94A3B8"/>
                </a:solidFill>
                <a:latin typeface="DejaVu Sans Mono"/>
              </a:rPr>
              <a:t>// ผู้บริโภคเป็นคนหยุด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    a, b = b, a+b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    }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}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isEven := func(n int) bool { return n%2 == 0 }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even := Filter(Fibonacci(), isEven)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total := 0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for n := range Take(10, even) { </a:t>
            </a:r>
            <a:r>
              <a:rPr sz="1050" i="1">
                <a:solidFill>
                  <a:srgbClr val="94A3B8"/>
                </a:solidFill>
                <a:latin typeface="DejaVu Sans Mono"/>
              </a:rPr>
              <a:t>// lazy คำนวณเท่าที่จำเป็น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    total += n</a:t>
            </a:r>
          </a:p>
          <a:p>
            <a:pPr algn="l">
              <a:spcAft>
                <a:spcPts val="0"/>
              </a:spcAft>
            </a:pPr>
            <a:r>
              <a:rPr sz="1050" i="0">
                <a:solidFill>
                  <a:srgbClr val="E2E8F0"/>
                </a:solidFill>
                <a:latin typeface="DejaVu Sans Mono"/>
              </a:rPr>
              <a:t>} </a:t>
            </a:r>
            <a:r>
              <a:rPr sz="1050" i="1">
                <a:solidFill>
                  <a:srgbClr val="94A3B8"/>
                </a:solidFill>
                <a:latin typeface="DejaVu Sans Mono"/>
              </a:rPr>
              <a:t>// sum แรก 10 ตัวเลขคู่ = 257114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9304"/>
            <a:ext cx="1975104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Ubuntu"/>
              </a:rPr>
              <a:t>09-</a:t>
            </a:r>
            <a:r>
              <a:rPr sz="1200" b="1" i="0">
                <a:solidFill>
                  <a:srgbClr val="FFFFFF"/>
                </a:solidFill>
                <a:latin typeface="Noto Sans Thai Looped"/>
              </a:rPr>
              <a:t>lazy-iter-seq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0F172A"/>
                </a:solidFill>
                <a:latin typeface="Noto Sans Thai Looped"/>
              </a:rPr>
              <a:t>• calculation ที่ pure เต็มตัว = test ไม่ต้อง mock / action ที่บาง = เหลือแค่ 'จุดที่โลกเปลี่ยน'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0F172A"/>
                </a:solidFill>
                <a:latin typeface="Noto Sans Thai Looped"/>
              </a:rPr>
              <a:t>• iter.Seq = lazy sequence ใน std lib: Fibonacci เป็นอนุกรมไม่รู้จบ แต่ Take(</a:t>
            </a:r>
            <a:r>
              <a:rPr sz="1400" b="0" i="0">
                <a:solidFill>
                  <a:srgbClr val="0F172A"/>
                </a:solidFill>
                <a:latin typeface="Ubuntu"/>
              </a:rPr>
              <a:t>10</a:t>
            </a:r>
            <a:r>
              <a:rPr sz="1400" b="0" i="0">
                <a:solidFill>
                  <a:srgbClr val="0F172A"/>
                </a:solidFill>
                <a:latin typeface="Noto Sans Thai Looped"/>
              </a:rPr>
              <a:t>) คำนวณแค่ที่จำเป็น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Cheat Sheet: ถาม–ตอบ </a:t>
            </a:r>
            <a:r>
              <a:rPr sz="3000" b="1" i="0">
                <a:solidFill>
                  <a:srgbClr val="0F172A"/>
                </a:solidFill>
                <a:latin typeface="Ubuntu"/>
              </a:rPr>
              <a:t>3</a:t>
            </a:r>
            <a:r>
              <a:rPr sz="3000" b="1" i="0">
                <a:solidFill>
                  <a:srgbClr val="0F172A"/>
                </a:solidFill>
                <a:latin typeface="Noto Sans Thai Looped"/>
              </a:rPr>
              <a:t> คำถามกับโค้ดทุกบรรทัด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5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377440"/>
                <a:gridCol w="4892039"/>
              </a:tblGrid>
              <a:tr h="6172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ถาม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ถ้าคำตอบคือ...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Thai Looped"/>
                        </a:rPr>
                        <a:t>แล้วทำอะไร</a:t>
                      </a:r>
                    </a:p>
                  </a:txBody>
                  <a:tcPr marT="36576" marB="36576">
                    <a:solidFill>
                      <a:srgbClr val="0D948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"ผลลัพธ์ขึ้นกับเวลา/จำนวนครั้งไหม?"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ใช่ → Action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ดันไปไว้ขอบระบบ ทำให้บางที่สุด ไม่ test ก็ได้</a:t>
                      </a:r>
                    </a:p>
                  </a:txBody>
                  <a:tcPr marT="36576" marB="36576"/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"input เดิม ให้ผลเดิมเสมอไหม?"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ใช่ → Calculation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ทำให้ pure + เขียน table-driven test</a:t>
                      </a:r>
                    </a:p>
                  </a:txBody>
                  <a:tcPr marT="36576" marB="36576">
                    <a:solidFill>
                      <a:srgbClr val="F1F5F9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"เป็นแค่ข้อเท็จจริงที่ส่งต่อกันไหม?"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ใช่ → Data</a:t>
                      </a:r>
                    </a:p>
                  </a:txBody>
                  <a:tcPr marT="36576" marB="36576"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Noto Sans Thai Looped"/>
                        </a:rPr>
                        <a:t>ใช้ immutable เท่าทำได้ (value semantics)</a:t>
                      </a:r>
                    </a:p>
                  </a:txBody>
                  <a:tcPr marT="36576" marB="3657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Go ทำได้ดี: HOF, closures, generics (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1.18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+), iter.Seq (</a:t>
            </a:r>
            <a:r>
              <a:rPr sz="1500" b="0" i="0">
                <a:solidFill>
                  <a:srgbClr val="0F172A"/>
                </a:solidFill>
                <a:latin typeface="Ubuntu"/>
              </a:rPr>
              <a:t>1.23</a:t>
            </a:r>
            <a:r>
              <a:rPr sz="1500" b="0" i="0">
                <a:solidFill>
                  <a:srgbClr val="0F172A"/>
                </a:solidFill>
                <a:latin typeface="Noto Sans Thai Looped"/>
              </a:rPr>
              <a:t>+)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0F172A"/>
                </a:solidFill>
                <a:latin typeface="Noto Sans Thai Looped"/>
              </a:rPr>
              <a:t>• Go ไม่มี: built-in map/filter, immutability guarantee, tail-call optimization — รู้ขีดจำกัด แล้วออกแบบรอบมัน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Noto Sans Thai Looped"/>
              </a:rPr>
              <a:t>• คำโปรย: 'คุณไม่ต้องเขียน FP ทั้งวัน — แค่หมั่นย้าย calculation ออกจาก action ทีละฟังก์ชัน'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0F172A"/>
                </a:solidFill>
                <a:latin typeface="Noto Sans Thai Looped"/>
              </a:rPr>
              <a:t>อ่านต่อ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07008"/>
            <a:ext cx="11201400" cy="279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Noto Sans Thai Looped"/>
              </a:rPr>
              <a:t>• Grokking Simplicity — Eric Normand (Manning </a:t>
            </a:r>
            <a:r>
              <a:rPr sz="1700" b="0" i="0">
                <a:solidFill>
                  <a:srgbClr val="0F172A"/>
                </a:solidFill>
                <a:latin typeface="Ubuntu"/>
              </a:rPr>
              <a:t>2021</a:t>
            </a:r>
            <a:r>
              <a:rPr sz="1700" b="0" i="0">
                <a:solidFill>
                  <a:srgbClr val="0F172A"/>
                </a:solidFill>
                <a:latin typeface="Noto Sans Thai Looped"/>
              </a:rPr>
              <a:t>) · โฟกัส ch.</a:t>
            </a:r>
            <a:r>
              <a:rPr sz="1700" b="0" i="0">
                <a:solidFill>
                  <a:srgbClr val="0F172A"/>
                </a:solidFill>
                <a:latin typeface="Ubuntu"/>
              </a:rPr>
              <a:t>3–5</a:t>
            </a:r>
            <a:r>
              <a:rPr sz="1700" b="0" i="0">
                <a:solidFill>
                  <a:srgbClr val="0F172A"/>
                </a:solidFill>
                <a:latin typeface="Noto Sans Thai Looped"/>
              </a:rPr>
              <a:t> (ACD), ch.</a:t>
            </a:r>
            <a:r>
              <a:rPr sz="1700" b="0" i="0">
                <a:solidFill>
                  <a:srgbClr val="0F172A"/>
                </a:solidFill>
                <a:latin typeface="Ubuntu"/>
              </a:rPr>
              <a:t>6–7</a:t>
            </a:r>
            <a:r>
              <a:rPr sz="1700" b="0" i="0">
                <a:solidFill>
                  <a:srgbClr val="0F172A"/>
                </a:solidFill>
                <a:latin typeface="Noto Sans Thai Looped"/>
              </a:rPr>
              <a:t> (immutability), ch.</a:t>
            </a:r>
            <a:r>
              <a:rPr sz="1700" b="0" i="0">
                <a:solidFill>
                  <a:srgbClr val="0F172A"/>
                </a:solidFill>
                <a:latin typeface="Ubuntu"/>
              </a:rPr>
              <a:t>10–14</a:t>
            </a:r>
            <a:r>
              <a:rPr sz="1700" b="0" i="0">
                <a:solidFill>
                  <a:srgbClr val="0F172A"/>
                </a:solidFill>
                <a:latin typeface="Noto Sans Thai Looped"/>
              </a:rPr>
              <a:t> (first-class functions)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Noto Sans Thai Looped"/>
              </a:rPr>
              <a:t>• Functional Programming in Go — Dylan Meeus (Packt </a:t>
            </a:r>
            <a:r>
              <a:rPr sz="1700" b="0" i="0">
                <a:solidFill>
                  <a:srgbClr val="0F172A"/>
                </a:solidFill>
                <a:latin typeface="Ubuntu"/>
              </a:rPr>
              <a:t>2023</a:t>
            </a:r>
            <a:r>
              <a:rPr sz="1700" b="0" i="0">
                <a:solidFill>
                  <a:srgbClr val="0F172A"/>
                </a:solidFill>
                <a:latin typeface="Noto Sans Thai Looped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Noto Sans Thai Looped"/>
              </a:rPr>
              <a:t>• Go blog: Range Over Function Types (Go </a:t>
            </a:r>
            <a:r>
              <a:rPr sz="1700" b="0" i="0">
                <a:solidFill>
                  <a:srgbClr val="0F172A"/>
                </a:solidFill>
                <a:latin typeface="Ubuntu"/>
              </a:rPr>
              <a:t>1.23</a:t>
            </a:r>
            <a:r>
              <a:rPr sz="1700" b="0" i="0">
                <a:solidFill>
                  <a:srgbClr val="0F172A"/>
                </a:solidFill>
                <a:latin typeface="Noto Sans Thai Looped"/>
              </a:rPr>
              <a:t>) — go.dev/blog/range-functions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Noto Sans Thai Looped"/>
              </a:rPr>
              <a:t>• Codewalk: First-Class Functions in Go — go.dev/doc/codewalk/functions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F172A"/>
                </a:solidFill>
                <a:latin typeface="Noto Sans Thai Looped"/>
              </a:rPr>
              <a:t>• Eli Bendersky: Higher-order functions in Go — eli.thegreenplace.net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F172A"/>
                </a:solidFill>
                <a:latin typeface="Noto Sans Thai Looped"/>
              </a:rPr>
              <a:t>• โค้ดทั้งหมดวันนี้: github.com/…/go-fp (หรือ ~/src/go-fp) — go test ./... ผ่านทุก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D9488"/>
                </a:solidFill>
                <a:latin typeface="Noto Sans Thai Looped"/>
              </a:rPr>
              <a:t>ขอบคุณครับ 🙏 — คำถามได้ตลอด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